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5"/>
  </p:normalViewPr>
  <p:slideViewPr>
    <p:cSldViewPr snapToGrid="0" snapToObjects="1">
      <p:cViewPr varScale="1">
        <p:scale>
          <a:sx n="115" d="100"/>
          <a:sy n="115" d="100"/>
        </p:scale>
        <p:origin x="3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554480"/>
            <a:ext cx="11155680" cy="1554480"/>
          </a:xfrm>
          <a:prstGeom prst="rect">
            <a:avLst/>
          </a:prstGeom>
          <a:noFill/>
        </p:spPr>
        <p:txBody>
          <a:bodyPr wrap="square" lIns="0" tIns="0" rIns="0" bIns="0" anchor="t">
            <a:spAutoFit/>
          </a:bodyPr>
          <a:lstStyle/>
          <a:p>
            <a:pPr algn="l">
              <a:lnSpc>
                <a:spcPct val="103000"/>
              </a:lnSpc>
            </a:pPr>
            <a:r>
              <a:rPr sz="3300" b="1">
                <a:solidFill>
                  <a:srgbClr val="1F2430"/>
                </a:solidFill>
                <a:latin typeface="Arial"/>
              </a:rPr>
              <a:t>E-Commerce</a:t>
            </a:r>
          </a:p>
          <a:p>
            <a:pPr algn="l">
              <a:lnSpc>
                <a:spcPct val="103000"/>
              </a:lnSpc>
            </a:pPr>
            <a:r>
              <a:rPr sz="3300" b="1">
                <a:solidFill>
                  <a:srgbClr val="1F2430"/>
                </a:solidFill>
                <a:latin typeface="Arial"/>
              </a:rPr>
              <a:t>Customer Analytics</a:t>
            </a:r>
          </a:p>
        </p:txBody>
      </p:sp>
      <p:sp>
        <p:nvSpPr>
          <p:cNvPr id="11" name="Rectangle 10"/>
          <p:cNvSpPr/>
          <p:nvPr/>
        </p:nvSpPr>
        <p:spPr>
          <a:xfrm>
            <a:off x="502920" y="3246120"/>
            <a:ext cx="2834640" cy="4572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438144"/>
            <a:ext cx="10058400" cy="384048"/>
          </a:xfrm>
          <a:prstGeom prst="rect">
            <a:avLst/>
          </a:prstGeom>
          <a:noFill/>
        </p:spPr>
        <p:txBody>
          <a:bodyPr wrap="square" lIns="0" tIns="0" rIns="0" bIns="0" anchor="t">
            <a:spAutoFit/>
          </a:bodyPr>
          <a:lstStyle/>
          <a:p>
            <a:pPr algn="l">
              <a:lnSpc>
                <a:spcPct val="100000"/>
              </a:lnSpc>
            </a:pPr>
            <a:r>
              <a:rPr sz="1700" b="1">
                <a:solidFill>
                  <a:srgbClr val="1F2430"/>
                </a:solidFill>
                <a:latin typeface="Arial"/>
              </a:rPr>
              <a:t>Stop spraying. Start aiming.</a:t>
            </a:r>
          </a:p>
        </p:txBody>
      </p:sp>
      <p:sp>
        <p:nvSpPr>
          <p:cNvPr id="13" name="TextBox 12"/>
          <p:cNvSpPr txBox="1"/>
          <p:nvPr/>
        </p:nvSpPr>
        <p:spPr>
          <a:xfrm>
            <a:off x="502920" y="3895344"/>
            <a:ext cx="9966960" cy="822960"/>
          </a:xfrm>
          <a:prstGeom prst="rect">
            <a:avLst/>
          </a:prstGeom>
          <a:noFill/>
        </p:spPr>
        <p:txBody>
          <a:bodyPr wrap="square" lIns="0" tIns="0" rIns="0" bIns="0" anchor="t">
            <a:spAutoFit/>
          </a:bodyPr>
          <a:lstStyle/>
          <a:p>
            <a:pPr algn="l">
              <a:lnSpc>
                <a:spcPct val="116000"/>
              </a:lnSpc>
            </a:pPr>
            <a:r>
              <a:rPr sz="1250" b="0">
                <a:solidFill>
                  <a:srgbClr val="6B7280"/>
                </a:solidFill>
                <a:latin typeface="Arial"/>
              </a:rPr>
              <a:t>Some customers are worth </a:t>
            </a:r>
            <a:r>
              <a:rPr sz="1250" b="1">
                <a:solidFill>
                  <a:srgbClr val="1F2430"/>
                </a:solidFill>
                <a:latin typeface="Arial"/>
              </a:rPr>
              <a:t>23x</a:t>
            </a:r>
            <a:r>
              <a:rPr sz="1250" b="0">
                <a:solidFill>
                  <a:srgbClr val="6B7280"/>
                </a:solidFill>
                <a:latin typeface="Arial"/>
              </a:rPr>
              <a:t> others and shop entirely different aisles, so no single campaign, however big, wins them both. This analysis segments the customer base, forecasts each customer's value, and aims every dollar at acquisition and retention where they actually pay off.</a:t>
            </a:r>
          </a:p>
        </p:txBody>
      </p:sp>
      <p:sp>
        <p:nvSpPr>
          <p:cNvPr id="14" name="TextBox 13"/>
          <p:cNvSpPr txBox="1"/>
          <p:nvPr/>
        </p:nvSpPr>
        <p:spPr>
          <a:xfrm>
            <a:off x="502920" y="4718304"/>
            <a:ext cx="8229600" cy="457200"/>
          </a:xfrm>
          <a:prstGeom prst="rect">
            <a:avLst/>
          </a:prstGeom>
          <a:noFill/>
        </p:spPr>
        <p:txBody>
          <a:bodyPr wrap="square" lIns="0" tIns="0" rIns="0" bIns="0" anchor="t">
            <a:spAutoFit/>
          </a:bodyPr>
          <a:lstStyle/>
          <a:p>
            <a:pPr algn="l">
              <a:lnSpc>
                <a:spcPct val="100000"/>
              </a:lnSpc>
            </a:pPr>
            <a:r>
              <a:rPr sz="1500" b="1">
                <a:solidFill>
                  <a:srgbClr val="1F2430"/>
                </a:solidFill>
                <a:latin typeface="Arial"/>
              </a:rPr>
              <a:t>Midhun Shyam</a:t>
            </a:r>
            <a:r>
              <a:rPr sz="1200" b="0">
                <a:solidFill>
                  <a:srgbClr val="6B7280"/>
                </a:solidFill>
                <a:latin typeface="Arial"/>
              </a:rPr>
              <a:t>      Lead Data Scientist</a:t>
            </a:r>
          </a:p>
        </p:txBody>
      </p:sp>
      <p:sp>
        <p:nvSpPr>
          <p:cNvPr id="15" name="Rectangle 14"/>
          <p:cNvSpPr/>
          <p:nvPr/>
        </p:nvSpPr>
        <p:spPr>
          <a:xfrm>
            <a:off x="502920" y="5230368"/>
            <a:ext cx="11247120" cy="120700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5230368"/>
            <a:ext cx="82296" cy="120700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5376672"/>
            <a:ext cx="7315200" cy="274320"/>
          </a:xfrm>
          <a:prstGeom prst="rect">
            <a:avLst/>
          </a:prstGeom>
          <a:noFill/>
        </p:spPr>
        <p:txBody>
          <a:bodyPr wrap="square" lIns="0" tIns="0" rIns="0" bIns="0" anchor="t">
            <a:spAutoFit/>
          </a:bodyPr>
          <a:lstStyle/>
          <a:p>
            <a:pPr algn="l">
              <a:lnSpc>
                <a:spcPct val="100000"/>
              </a:lnSpc>
            </a:pPr>
            <a:r>
              <a:rPr sz="1000" b="1">
                <a:solidFill>
                  <a:srgbClr val="B5197A"/>
                </a:solidFill>
                <a:latin typeface="Arial"/>
              </a:rPr>
              <a:t>MARKET RESEARCH CASE STUDY</a:t>
            </a:r>
          </a:p>
        </p:txBody>
      </p:sp>
      <p:sp>
        <p:nvSpPr>
          <p:cNvPr id="18" name="TextBox 17"/>
          <p:cNvSpPr txBox="1"/>
          <p:nvPr/>
        </p:nvSpPr>
        <p:spPr>
          <a:xfrm>
            <a:off x="822960" y="5705856"/>
            <a:ext cx="5212080" cy="640080"/>
          </a:xfrm>
          <a:prstGeom prst="rect">
            <a:avLst/>
          </a:prstGeom>
          <a:noFill/>
        </p:spPr>
        <p:txBody>
          <a:bodyPr wrap="square" lIns="0" tIns="0" rIns="0" bIns="0" anchor="t">
            <a:spAutoFit/>
          </a:bodyPr>
          <a:lstStyle/>
          <a:p>
            <a:pPr algn="l">
              <a:lnSpc>
                <a:spcPct val="115000"/>
              </a:lnSpc>
            </a:pPr>
            <a:r>
              <a:rPr sz="1300" b="1">
                <a:solidFill>
                  <a:srgbClr val="1F2430"/>
                </a:solidFill>
                <a:latin typeface="Arial"/>
              </a:rPr>
              <a:t>Synthetic e-commerce data</a:t>
            </a:r>
          </a:p>
          <a:p>
            <a:pPr algn="l">
              <a:lnSpc>
                <a:spcPct val="115000"/>
              </a:lnSpc>
            </a:pPr>
            <a:r>
              <a:rPr sz="1050" b="0">
                <a:solidFill>
                  <a:srgbClr val="6B7280"/>
                </a:solidFill>
                <a:latin typeface="Arial"/>
              </a:rPr>
              <a:t>1,000 customers and 10,503 transactions, Jan 2025 to Jun 2026</a:t>
            </a:r>
          </a:p>
        </p:txBody>
      </p:sp>
      <p:sp>
        <p:nvSpPr>
          <p:cNvPr id="19" name="TextBox 18"/>
          <p:cNvSpPr txBox="1"/>
          <p:nvPr/>
        </p:nvSpPr>
        <p:spPr>
          <a:xfrm>
            <a:off x="5989320" y="5705856"/>
            <a:ext cx="5212080" cy="640080"/>
          </a:xfrm>
          <a:prstGeom prst="rect">
            <a:avLst/>
          </a:prstGeom>
          <a:noFill/>
        </p:spPr>
        <p:txBody>
          <a:bodyPr wrap="square" lIns="0" tIns="0" rIns="0" bIns="0" anchor="t">
            <a:spAutoFit/>
          </a:bodyPr>
          <a:lstStyle/>
          <a:p>
            <a:pPr algn="l">
              <a:lnSpc>
                <a:spcPct val="115000"/>
              </a:lnSpc>
            </a:pPr>
            <a:r>
              <a:rPr sz="1300" b="1">
                <a:solidFill>
                  <a:srgbClr val="1F2430"/>
                </a:solidFill>
                <a:latin typeface="Arial"/>
              </a:rPr>
              <a:t>Methods</a:t>
            </a:r>
          </a:p>
          <a:p>
            <a:pPr algn="l">
              <a:lnSpc>
                <a:spcPct val="115000"/>
              </a:lnSpc>
            </a:pPr>
            <a:r>
              <a:rPr sz="1050" b="0">
                <a:solidFill>
                  <a:srgbClr val="6B7280"/>
                </a:solidFill>
                <a:latin typeface="Arial"/>
              </a:rPr>
              <a:t>k-Means, k-NN, gradient boosting, integer programming,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74320"/>
            <a:ext cx="5486400" cy="219456"/>
          </a:xfrm>
          <a:prstGeom prst="rect">
            <a:avLst/>
          </a:prstGeom>
          <a:noFill/>
        </p:spPr>
        <p:txBody>
          <a:bodyPr wrap="square" lIns="0" tIns="0" rIns="0" bIns="0" anchor="t">
            <a:spAutoFit/>
          </a:bodyPr>
          <a:lstStyle/>
          <a:p>
            <a:pPr algn="l">
              <a:lnSpc>
                <a:spcPct val="100000"/>
              </a:lnSpc>
            </a:pPr>
            <a:r>
              <a:rPr sz="1100" b="1">
                <a:solidFill>
                  <a:srgbClr val="B5197A"/>
                </a:solidFill>
                <a:latin typeface="Arial"/>
              </a:rPr>
              <a:t>EXECUTIVE SUMMARY</a:t>
            </a:r>
          </a:p>
        </p:txBody>
      </p:sp>
      <p:sp>
        <p:nvSpPr>
          <p:cNvPr id="5" name="TextBox 4"/>
          <p:cNvSpPr txBox="1"/>
          <p:nvPr/>
        </p:nvSpPr>
        <p:spPr>
          <a:xfrm>
            <a:off x="502920" y="475488"/>
            <a:ext cx="9509760" cy="457200"/>
          </a:xfrm>
          <a:prstGeom prst="rect">
            <a:avLst/>
          </a:prstGeom>
          <a:noFill/>
        </p:spPr>
        <p:txBody>
          <a:bodyPr wrap="square" lIns="0" tIns="0" rIns="0" bIns="0" anchor="t">
            <a:spAutoFit/>
          </a:bodyPr>
          <a:lstStyle/>
          <a:p>
            <a:pPr algn="l">
              <a:lnSpc>
                <a:spcPct val="100000"/>
              </a:lnSpc>
            </a:pPr>
            <a:r>
              <a:rPr sz="2200" b="1">
                <a:solidFill>
                  <a:srgbClr val="1F2430"/>
                </a:solidFill>
                <a:latin typeface="Arial"/>
              </a:rPr>
              <a:t>15% of Customers, 72% of the Money</a:t>
            </a:r>
          </a:p>
        </p:txBody>
      </p:sp>
      <p:sp>
        <p:nvSpPr>
          <p:cNvPr id="6" name="TextBox 5"/>
          <p:cNvSpPr txBox="1"/>
          <p:nvPr/>
        </p:nvSpPr>
        <p:spPr>
          <a:xfrm>
            <a:off x="502920" y="969264"/>
            <a:ext cx="10424160" cy="365760"/>
          </a:xfrm>
          <a:prstGeom prst="rect">
            <a:avLst/>
          </a:prstGeom>
          <a:noFill/>
        </p:spPr>
        <p:txBody>
          <a:bodyPr wrap="square" lIns="0" tIns="0" rIns="0" bIns="0" anchor="t">
            <a:spAutoFit/>
          </a:bodyPr>
          <a:lstStyle/>
          <a:p>
            <a:pPr algn="l">
              <a:lnSpc>
                <a:spcPct val="100000"/>
              </a:lnSpc>
            </a:pPr>
            <a:r>
              <a:rPr sz="1150" b="0">
                <a:solidFill>
                  <a:srgbClr val="6B7280"/>
                </a:solidFill>
                <a:latin typeface="Arial"/>
              </a:rPr>
              <a:t>Four findings and their dollar impact. A few customers hold most of the value, and the coupon budget is a rounding error next to the real prize: keeping them and winning more like them.</a:t>
            </a:r>
          </a:p>
        </p:txBody>
      </p:sp>
      <p:sp>
        <p:nvSpPr>
          <p:cNvPr id="7" name="Rectangle 6"/>
          <p:cNvSpPr/>
          <p:nvPr/>
        </p:nvSpPr>
        <p:spPr>
          <a:xfrm>
            <a:off x="502920" y="1353312"/>
            <a:ext cx="11247120" cy="1828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499616"/>
            <a:ext cx="2194560" cy="2084831"/>
          </a:xfrm>
          <a:prstGeom prst="rect">
            <a:avLst/>
          </a:prstGeom>
          <a:noFill/>
        </p:spPr>
        <p:txBody>
          <a:bodyPr wrap="square" lIns="0" tIns="0" rIns="0" bIns="0" anchor="ctr">
            <a:spAutoFit/>
          </a:bodyPr>
          <a:lstStyle/>
          <a:p>
            <a:pPr algn="l">
              <a:lnSpc>
                <a:spcPct val="106000"/>
              </a:lnSpc>
              <a:spcAft>
                <a:spcPts val="500"/>
              </a:spcAft>
            </a:pPr>
            <a:r>
              <a:rPr sz="1100" b="1">
                <a:solidFill>
                  <a:srgbClr val="1F2430"/>
                </a:solidFill>
                <a:latin typeface="Arial"/>
              </a:rPr>
              <a:t>A few customers are worth almost everything.</a:t>
            </a:r>
          </a:p>
          <a:p>
            <a:pPr algn="l">
              <a:lnSpc>
                <a:spcPct val="106000"/>
              </a:lnSpc>
            </a:pPr>
            <a:r>
              <a:rPr sz="950" b="0">
                <a:solidFill>
                  <a:srgbClr val="1F2430"/>
                </a:solidFill>
                <a:latin typeface="Arial"/>
              </a:rPr>
              <a:t>Just 15% of customers (148 VIPs) will bring in about </a:t>
            </a:r>
            <a:r>
              <a:rPr sz="950" b="1">
                <a:solidFill>
                  <a:srgbClr val="1F2430"/>
                </a:solidFill>
                <a:latin typeface="Arial"/>
              </a:rPr>
              <a:t>72% of next year's spending</a:t>
            </a:r>
            <a:r>
              <a:rPr sz="950" b="0">
                <a:solidFill>
                  <a:srgbClr val="1F2430"/>
                </a:solidFill>
                <a:latin typeface="Arial"/>
              </a:rPr>
              <a:t>. One VIP is worth about </a:t>
            </a:r>
            <a:r>
              <a:rPr sz="950" b="1">
                <a:solidFill>
                  <a:srgbClr val="1F2430"/>
                </a:solidFill>
                <a:latin typeface="Arial"/>
              </a:rPr>
              <a:t>23x</a:t>
            </a:r>
            <a:r>
              <a:rPr sz="950" b="0">
                <a:solidFill>
                  <a:srgbClr val="1F2430"/>
                </a:solidFill>
                <a:latin typeface="Arial"/>
              </a:rPr>
              <a:t> an Occasional Shopper: $3,826 versus $165 over 12 months.</a:t>
            </a:r>
          </a:p>
        </p:txBody>
      </p:sp>
      <p:pic>
        <p:nvPicPr>
          <p:cNvPr id="11" name="Picture 10" descr="conc_tile.png"/>
          <p:cNvPicPr>
            <a:picLocks noChangeAspect="1"/>
          </p:cNvPicPr>
          <p:nvPr/>
        </p:nvPicPr>
        <p:blipFill>
          <a:blip r:embed="rId2"/>
          <a:stretch>
            <a:fillRect/>
          </a:stretch>
        </p:blipFill>
        <p:spPr>
          <a:xfrm>
            <a:off x="2868736" y="1545336"/>
            <a:ext cx="3040767" cy="1993391"/>
          </a:xfrm>
          <a:prstGeom prst="rect">
            <a:avLst/>
          </a:prstGeom>
        </p:spPr>
      </p:pic>
      <p:sp>
        <p:nvSpPr>
          <p:cNvPr id="12" name="TextBox 11"/>
          <p:cNvSpPr txBox="1"/>
          <p:nvPr/>
        </p:nvSpPr>
        <p:spPr>
          <a:xfrm>
            <a:off x="6309360" y="1499616"/>
            <a:ext cx="2194560" cy="2084831"/>
          </a:xfrm>
          <a:prstGeom prst="rect">
            <a:avLst/>
          </a:prstGeom>
          <a:noFill/>
        </p:spPr>
        <p:txBody>
          <a:bodyPr wrap="square" lIns="0" tIns="0" rIns="0" bIns="0" anchor="ctr">
            <a:spAutoFit/>
          </a:bodyPr>
          <a:lstStyle/>
          <a:p>
            <a:pPr algn="l">
              <a:lnSpc>
                <a:spcPct val="106000"/>
              </a:lnSpc>
              <a:spcAft>
                <a:spcPts val="500"/>
              </a:spcAft>
            </a:pPr>
            <a:r>
              <a:rPr sz="1100" b="1">
                <a:solidFill>
                  <a:srgbClr val="1F2430"/>
                </a:solidFill>
                <a:latin typeface="Arial"/>
              </a:rPr>
              <a:t>We win far more than we pay to get customers.</a:t>
            </a:r>
          </a:p>
          <a:p>
            <a:pPr algn="l">
              <a:lnSpc>
                <a:spcPct val="106000"/>
              </a:lnSpc>
            </a:pPr>
            <a:r>
              <a:rPr sz="950" b="0">
                <a:solidFill>
                  <a:srgbClr val="1F2430"/>
                </a:solidFill>
                <a:latin typeface="Arial"/>
              </a:rPr>
              <a:t>Every channel is profitable. Together, the customers we bring in are worth </a:t>
            </a:r>
            <a:r>
              <a:rPr sz="950" b="1">
                <a:solidFill>
                  <a:srgbClr val="1F2430"/>
                </a:solidFill>
                <a:latin typeface="Arial"/>
              </a:rPr>
              <a:t>+$758k more than they cost</a:t>
            </a:r>
            <a:r>
              <a:rPr sz="950" b="0">
                <a:solidFill>
                  <a:srgbClr val="1F2430"/>
                </a:solidFill>
                <a:latin typeface="Arial"/>
              </a:rPr>
              <a:t>, over 12 months. Google returns about $26 for every $1 spent.</a:t>
            </a:r>
          </a:p>
        </p:txBody>
      </p:sp>
      <p:pic>
        <p:nvPicPr>
          <p:cNvPr id="13" name="Picture 12" descr="acq_tile.png"/>
          <p:cNvPicPr>
            <a:picLocks noChangeAspect="1"/>
          </p:cNvPicPr>
          <p:nvPr/>
        </p:nvPicPr>
        <p:blipFill>
          <a:blip r:embed="rId3"/>
          <a:stretch>
            <a:fillRect/>
          </a:stretch>
        </p:blipFill>
        <p:spPr>
          <a:xfrm>
            <a:off x="8675176" y="1545336"/>
            <a:ext cx="3040767" cy="1993391"/>
          </a:xfrm>
          <a:prstGeom prst="rect">
            <a:avLst/>
          </a:prstGeom>
        </p:spPr>
      </p:pic>
      <p:sp>
        <p:nvSpPr>
          <p:cNvPr id="14" name="TextBox 13"/>
          <p:cNvSpPr txBox="1"/>
          <p:nvPr/>
        </p:nvSpPr>
        <p:spPr>
          <a:xfrm>
            <a:off x="502920" y="3730752"/>
            <a:ext cx="2194560" cy="2084831"/>
          </a:xfrm>
          <a:prstGeom prst="rect">
            <a:avLst/>
          </a:prstGeom>
          <a:noFill/>
        </p:spPr>
        <p:txBody>
          <a:bodyPr wrap="square" lIns="0" tIns="0" rIns="0" bIns="0" anchor="ctr">
            <a:spAutoFit/>
          </a:bodyPr>
          <a:lstStyle/>
          <a:p>
            <a:pPr algn="l">
              <a:lnSpc>
                <a:spcPct val="106000"/>
              </a:lnSpc>
              <a:spcAft>
                <a:spcPts val="500"/>
              </a:spcAft>
            </a:pPr>
            <a:r>
              <a:rPr sz="1100" b="1">
                <a:solidFill>
                  <a:srgbClr val="1F2430"/>
                </a:solidFill>
                <a:latin typeface="Arial"/>
              </a:rPr>
              <a:t>A ready quick win from the coupon budget.</a:t>
            </a:r>
          </a:p>
          <a:p>
            <a:pPr algn="l">
              <a:lnSpc>
                <a:spcPct val="106000"/>
              </a:lnSpc>
            </a:pPr>
            <a:r>
              <a:rPr sz="950" b="0">
                <a:solidFill>
                  <a:srgbClr val="1F2430"/>
                </a:solidFill>
                <a:latin typeface="Arial"/>
              </a:rPr>
              <a:t>One tailored coupon per group. Spending $9,750 should return </a:t>
            </a:r>
            <a:r>
              <a:rPr sz="950" b="1">
                <a:solidFill>
                  <a:srgbClr val="1F2430"/>
                </a:solidFill>
                <a:latin typeface="Arial"/>
              </a:rPr>
              <a:t>+$14,450 in extra sales</a:t>
            </a:r>
            <a:r>
              <a:rPr sz="950" b="0">
                <a:solidFill>
                  <a:srgbClr val="1F2430"/>
                </a:solidFill>
                <a:latin typeface="Arial"/>
              </a:rPr>
              <a:t>, about $1.48 back for every $1. Confirm with a live test first.</a:t>
            </a:r>
          </a:p>
        </p:txBody>
      </p:sp>
      <p:pic>
        <p:nvPicPr>
          <p:cNvPr id="15" name="Picture 14" descr="coupon_tile.png"/>
          <p:cNvPicPr>
            <a:picLocks noChangeAspect="1"/>
          </p:cNvPicPr>
          <p:nvPr/>
        </p:nvPicPr>
        <p:blipFill>
          <a:blip r:embed="rId4"/>
          <a:stretch>
            <a:fillRect/>
          </a:stretch>
        </p:blipFill>
        <p:spPr>
          <a:xfrm>
            <a:off x="2868736" y="3776472"/>
            <a:ext cx="3040767" cy="1993391"/>
          </a:xfrm>
          <a:prstGeom prst="rect">
            <a:avLst/>
          </a:prstGeom>
        </p:spPr>
      </p:pic>
      <p:sp>
        <p:nvSpPr>
          <p:cNvPr id="16" name="TextBox 15"/>
          <p:cNvSpPr txBox="1"/>
          <p:nvPr/>
        </p:nvSpPr>
        <p:spPr>
          <a:xfrm>
            <a:off x="6309360" y="3730752"/>
            <a:ext cx="2194560" cy="2084831"/>
          </a:xfrm>
          <a:prstGeom prst="rect">
            <a:avLst/>
          </a:prstGeom>
          <a:noFill/>
        </p:spPr>
        <p:txBody>
          <a:bodyPr wrap="square" lIns="0" tIns="0" rIns="0" bIns="0" anchor="ctr">
            <a:spAutoFit/>
          </a:bodyPr>
          <a:lstStyle/>
          <a:p>
            <a:pPr algn="l">
              <a:lnSpc>
                <a:spcPct val="106000"/>
              </a:lnSpc>
              <a:spcAft>
                <a:spcPts val="500"/>
              </a:spcAft>
            </a:pPr>
            <a:r>
              <a:rPr sz="1100" b="1">
                <a:solidFill>
                  <a:srgbClr val="1F2430"/>
                </a:solidFill>
                <a:latin typeface="Arial"/>
              </a:rPr>
              <a:t>The bigger prize: grow customers we already have.</a:t>
            </a:r>
          </a:p>
          <a:p>
            <a:pPr algn="l">
              <a:lnSpc>
                <a:spcPct val="106000"/>
              </a:lnSpc>
            </a:pPr>
            <a:r>
              <a:rPr sz="950" b="0">
                <a:solidFill>
                  <a:srgbClr val="1F2430"/>
                </a:solidFill>
                <a:latin typeface="Arial"/>
              </a:rPr>
              <a:t>This is the biggest one here. Two moves: loyal small-spenders roughly double their basket (</a:t>
            </a:r>
            <a:r>
              <a:rPr sz="950" b="1">
                <a:solidFill>
                  <a:srgbClr val="1F2430"/>
                </a:solidFill>
                <a:latin typeface="Arial"/>
              </a:rPr>
              <a:t>+$117k</a:t>
            </a:r>
            <a:r>
              <a:rPr sz="950" b="0">
                <a:solidFill>
                  <a:srgbClr val="1F2430"/>
                </a:solidFill>
                <a:latin typeface="Arial"/>
              </a:rPr>
              <a:t>), and occasional buyers visit about twice as often (</a:t>
            </a:r>
            <a:r>
              <a:rPr sz="950" b="1">
                <a:solidFill>
                  <a:srgbClr val="1F2430"/>
                </a:solidFill>
                <a:latin typeface="Arial"/>
              </a:rPr>
              <a:t>+$78k</a:t>
            </a:r>
            <a:r>
              <a:rPr sz="950" b="0">
                <a:solidFill>
                  <a:srgbClr val="1F2430"/>
                </a:solidFill>
                <a:latin typeface="Arial"/>
              </a:rPr>
              <a:t>). Together </a:t>
            </a:r>
            <a:r>
              <a:rPr sz="950" b="1">
                <a:solidFill>
                  <a:srgbClr val="1F2430"/>
                </a:solidFill>
                <a:latin typeface="Arial"/>
              </a:rPr>
              <a:t>+$195k a year</a:t>
            </a:r>
            <a:r>
              <a:rPr sz="950" b="0">
                <a:solidFill>
                  <a:srgbClr val="1F2430"/>
                </a:solidFill>
                <a:latin typeface="Arial"/>
              </a:rPr>
              <a:t>, about 13x the coupon program.</a:t>
            </a:r>
          </a:p>
        </p:txBody>
      </p:sp>
      <p:pic>
        <p:nvPicPr>
          <p:cNvPr id="17" name="Picture 16" descr="migration_tile.png"/>
          <p:cNvPicPr>
            <a:picLocks noChangeAspect="1"/>
          </p:cNvPicPr>
          <p:nvPr/>
        </p:nvPicPr>
        <p:blipFill>
          <a:blip r:embed="rId5"/>
          <a:stretch>
            <a:fillRect/>
          </a:stretch>
        </p:blipFill>
        <p:spPr>
          <a:xfrm>
            <a:off x="8641080" y="3837307"/>
            <a:ext cx="3108960" cy="1871720"/>
          </a:xfrm>
          <a:prstGeom prst="rect">
            <a:avLst/>
          </a:prstGeom>
        </p:spPr>
      </p:pic>
      <p:sp>
        <p:nvSpPr>
          <p:cNvPr id="18" name="Rectangle 17"/>
          <p:cNvSpPr/>
          <p:nvPr/>
        </p:nvSpPr>
        <p:spPr>
          <a:xfrm>
            <a:off x="502920" y="5925312"/>
            <a:ext cx="11247120" cy="65836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5925312"/>
            <a:ext cx="82296" cy="65836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5952744"/>
            <a:ext cx="10835640" cy="603503"/>
          </a:xfrm>
          <a:prstGeom prst="rect">
            <a:avLst/>
          </a:prstGeom>
          <a:noFill/>
        </p:spPr>
        <p:txBody>
          <a:bodyPr wrap="square" lIns="0" tIns="0" rIns="0" bIns="0" anchor="ctr">
            <a:spAutoFit/>
          </a:bodyPr>
          <a:lstStyle/>
          <a:p>
            <a:pPr algn="l">
              <a:lnSpc>
                <a:spcPct val="102000"/>
              </a:lnSpc>
            </a:pPr>
            <a:r>
              <a:rPr sz="1100" b="1">
                <a:solidFill>
                  <a:srgbClr val="B5197A"/>
                </a:solidFill>
                <a:latin typeface="Arial"/>
              </a:rPr>
              <a:t>The bottom line:  </a:t>
            </a:r>
            <a:r>
              <a:rPr sz="1100" b="0">
                <a:solidFill>
                  <a:srgbClr val="1F2430"/>
                </a:solidFill>
                <a:latin typeface="Arial"/>
              </a:rPr>
              <a:t>the coupon is a quick win, but small change next to the real opportunity. Revenue has been flat for 18 months because we stopped bringing in new customers back in 2024, not because our marketing is wasteful: every channel we run makes money. So the answer is growth, not cost-cutting. Bring in more customers who behave like our VIPs (through Google and Facebook), sell more to the ones we already have, and prove each move with a small test before scaling.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74320"/>
            <a:ext cx="5486400" cy="219456"/>
          </a:xfrm>
          <a:prstGeom prst="rect">
            <a:avLst/>
          </a:prstGeom>
          <a:noFill/>
        </p:spPr>
        <p:txBody>
          <a:bodyPr wrap="square" lIns="0" tIns="0" rIns="0" bIns="0" anchor="t">
            <a:spAutoFit/>
          </a:bodyPr>
          <a:lstStyle/>
          <a:p>
            <a:pPr algn="l">
              <a:lnSpc>
                <a:spcPct val="100000"/>
              </a:lnSpc>
            </a:pPr>
            <a:r>
              <a:rPr sz="1100" b="1">
                <a:solidFill>
                  <a:srgbClr val="B5197A"/>
                </a:solidFill>
                <a:latin typeface="Arial"/>
              </a:rPr>
              <a:t>CUSTOMER SEGMENTATION</a:t>
            </a:r>
          </a:p>
        </p:txBody>
      </p:sp>
      <p:sp>
        <p:nvSpPr>
          <p:cNvPr id="5" name="TextBox 4"/>
          <p:cNvSpPr txBox="1"/>
          <p:nvPr/>
        </p:nvSpPr>
        <p:spPr>
          <a:xfrm>
            <a:off x="502920" y="475488"/>
            <a:ext cx="9509760" cy="457200"/>
          </a:xfrm>
          <a:prstGeom prst="rect">
            <a:avLst/>
          </a:prstGeom>
          <a:noFill/>
        </p:spPr>
        <p:txBody>
          <a:bodyPr wrap="square" lIns="0" tIns="0" rIns="0" bIns="0" anchor="t">
            <a:spAutoFit/>
          </a:bodyPr>
          <a:lstStyle/>
          <a:p>
            <a:pPr algn="l">
              <a:lnSpc>
                <a:spcPct val="100000"/>
              </a:lnSpc>
            </a:pPr>
            <a:r>
              <a:rPr sz="2000" b="1">
                <a:solidFill>
                  <a:srgbClr val="1F2430"/>
                </a:solidFill>
                <a:latin typeface="Arial"/>
              </a:rPr>
              <a:t>Three Segments, Three Plays: Reward, Grow, Re-engage</a:t>
            </a:r>
          </a:p>
        </p:txBody>
      </p:sp>
      <p:sp>
        <p:nvSpPr>
          <p:cNvPr id="6" name="TextBox 5"/>
          <p:cNvSpPr txBox="1"/>
          <p:nvPr/>
        </p:nvSpPr>
        <p:spPr>
          <a:xfrm>
            <a:off x="502920" y="969264"/>
            <a:ext cx="10424160" cy="365760"/>
          </a:xfrm>
          <a:prstGeom prst="rect">
            <a:avLst/>
          </a:prstGeom>
          <a:noFill/>
        </p:spPr>
        <p:txBody>
          <a:bodyPr wrap="square" lIns="0" tIns="0" rIns="0" bIns="0" anchor="t">
            <a:spAutoFit/>
          </a:bodyPr>
          <a:lstStyle/>
          <a:p>
            <a:pPr algn="l">
              <a:lnSpc>
                <a:spcPct val="100000"/>
              </a:lnSpc>
            </a:pPr>
            <a:r>
              <a:rPr sz="1150" b="0">
                <a:solidFill>
                  <a:srgbClr val="6B7280"/>
                </a:solidFill>
                <a:latin typeface="Arial"/>
              </a:rPr>
              <a:t>That value lives in three behaviour groups. Same age, channel and signup year: only how they shop tells them apart, and each needs its own play.</a:t>
            </a:r>
          </a:p>
        </p:txBody>
      </p:sp>
      <p:sp>
        <p:nvSpPr>
          <p:cNvPr id="7" name="Rectangle 6"/>
          <p:cNvSpPr/>
          <p:nvPr/>
        </p:nvSpPr>
        <p:spPr>
          <a:xfrm>
            <a:off x="502920" y="1353312"/>
            <a:ext cx="11247120" cy="1828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463040"/>
            <a:ext cx="3541776" cy="2240280"/>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463040"/>
            <a:ext cx="3541776" cy="402336"/>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 y="1463040"/>
            <a:ext cx="3249168" cy="402336"/>
          </a:xfrm>
          <a:prstGeom prst="rect">
            <a:avLst/>
          </a:prstGeom>
          <a:noFill/>
        </p:spPr>
        <p:txBody>
          <a:bodyPr wrap="square" lIns="0" tIns="0" rIns="0" bIns="0" anchor="ctr">
            <a:spAutoFit/>
          </a:bodyPr>
          <a:lstStyle/>
          <a:p>
            <a:pPr algn="l">
              <a:lnSpc>
                <a:spcPct val="100000"/>
              </a:lnSpc>
            </a:pPr>
            <a:r>
              <a:rPr sz="1200" b="1">
                <a:solidFill>
                  <a:srgbClr val="FFFFFF"/>
                </a:solidFill>
                <a:latin typeface="Arial"/>
              </a:rPr>
              <a:t>REWARD</a:t>
            </a:r>
          </a:p>
        </p:txBody>
      </p:sp>
      <p:sp>
        <p:nvSpPr>
          <p:cNvPr id="13" name="TextBox 12"/>
          <p:cNvSpPr txBox="1"/>
          <p:nvPr/>
        </p:nvSpPr>
        <p:spPr>
          <a:xfrm>
            <a:off x="649224" y="1975104"/>
            <a:ext cx="3249168" cy="1673352"/>
          </a:xfrm>
          <a:prstGeom prst="rect">
            <a:avLst/>
          </a:prstGeom>
          <a:noFill/>
        </p:spPr>
        <p:txBody>
          <a:bodyPr wrap="square" lIns="0" tIns="0" rIns="0" bIns="0" anchor="t">
            <a:spAutoFit/>
          </a:bodyPr>
          <a:lstStyle/>
          <a:p>
            <a:pPr algn="l">
              <a:lnSpc>
                <a:spcPct val="104000"/>
              </a:lnSpc>
              <a:spcAft>
                <a:spcPts val="200"/>
              </a:spcAft>
            </a:pPr>
            <a:r>
              <a:rPr sz="1300" b="1">
                <a:solidFill>
                  <a:srgbClr val="1F2430"/>
                </a:solidFill>
                <a:latin typeface="Arial"/>
              </a:rPr>
              <a:t>VIPs</a:t>
            </a:r>
          </a:p>
          <a:p>
            <a:pPr algn="l">
              <a:lnSpc>
                <a:spcPct val="104000"/>
              </a:lnSpc>
            </a:pPr>
            <a:r>
              <a:rPr sz="950" b="0">
                <a:solidFill>
                  <a:srgbClr val="6B7280"/>
                </a:solidFill>
                <a:latin typeface="Arial"/>
              </a:rPr>
              <a:t>Loyal big spenders</a:t>
            </a:r>
          </a:p>
          <a:p>
            <a:pPr algn="l">
              <a:lnSpc>
                <a:spcPct val="104000"/>
              </a:lnSpc>
              <a:spcAft>
                <a:spcPts val="500"/>
              </a:spcAft>
            </a:pPr>
            <a:r>
              <a:rPr sz="950" b="0">
                <a:solidFill>
                  <a:srgbClr val="6B7280"/>
                </a:solidFill>
                <a:latin typeface="Arial"/>
              </a:rPr>
              <a:t>148 customers, 15% of base.  </a:t>
            </a:r>
            <a:r>
              <a:rPr sz="950" b="0">
                <a:solidFill>
                  <a:srgbClr val="1F2430"/>
                </a:solidFill>
                <a:latin typeface="Arial"/>
              </a:rPr>
              <a:t>Worth </a:t>
            </a:r>
            <a:r>
              <a:rPr sz="950" b="1">
                <a:solidFill>
                  <a:srgbClr val="1F2430"/>
                </a:solidFill>
                <a:latin typeface="Arial"/>
              </a:rPr>
              <a:t>$566,228</a:t>
            </a:r>
            <a:r>
              <a:rPr sz="950" b="0">
                <a:solidFill>
                  <a:srgbClr val="1F2430"/>
                </a:solidFill>
                <a:latin typeface="Arial"/>
              </a:rPr>
              <a:t> next year (</a:t>
            </a:r>
            <a:r>
              <a:rPr sz="950" b="1">
                <a:solidFill>
                  <a:srgbClr val="1F2430"/>
                </a:solidFill>
                <a:latin typeface="Arial"/>
              </a:rPr>
              <a:t>72%</a:t>
            </a:r>
            <a:r>
              <a:rPr sz="950" b="0">
                <a:solidFill>
                  <a:srgbClr val="1F2430"/>
                </a:solidFill>
                <a:latin typeface="Arial"/>
              </a:rPr>
              <a:t> of value).</a:t>
            </a:r>
          </a:p>
          <a:p>
            <a:pPr algn="l">
              <a:lnSpc>
                <a:spcPct val="104000"/>
              </a:lnSpc>
            </a:pPr>
            <a:r>
              <a:rPr sz="950" b="0">
                <a:solidFill>
                  <a:srgbClr val="6B7280"/>
                </a:solidFill>
                <a:latin typeface="Arial"/>
              </a:rPr>
              <a:t>Orders per year:  </a:t>
            </a:r>
            <a:r>
              <a:rPr sz="950" b="1">
                <a:solidFill>
                  <a:srgbClr val="1F2430"/>
                </a:solidFill>
                <a:latin typeface="Arial"/>
              </a:rPr>
              <a:t>24.5</a:t>
            </a:r>
          </a:p>
          <a:p>
            <a:pPr algn="l">
              <a:lnSpc>
                <a:spcPct val="104000"/>
              </a:lnSpc>
            </a:pPr>
            <a:r>
              <a:rPr sz="950" b="0">
                <a:solidFill>
                  <a:srgbClr val="6B7280"/>
                </a:solidFill>
                <a:latin typeface="Arial"/>
              </a:rPr>
              <a:t>Avg order (per purchase):  </a:t>
            </a:r>
            <a:r>
              <a:rPr sz="950" b="1">
                <a:solidFill>
                  <a:srgbClr val="1F2430"/>
                </a:solidFill>
                <a:latin typeface="Arial"/>
              </a:rPr>
              <a:t>$119</a:t>
            </a:r>
          </a:p>
          <a:p>
            <a:pPr algn="l">
              <a:lnSpc>
                <a:spcPct val="104000"/>
              </a:lnSpc>
            </a:pPr>
            <a:r>
              <a:rPr sz="950" b="0">
                <a:solidFill>
                  <a:srgbClr val="6B7280"/>
                </a:solidFill>
                <a:latin typeface="Arial"/>
              </a:rPr>
              <a:t>Last purchase:  </a:t>
            </a:r>
            <a:r>
              <a:rPr sz="950" b="1">
                <a:solidFill>
                  <a:srgbClr val="1F2430"/>
                </a:solidFill>
                <a:latin typeface="Arial"/>
              </a:rPr>
              <a:t>22 days ago</a:t>
            </a:r>
          </a:p>
          <a:p>
            <a:pPr algn="l">
              <a:lnSpc>
                <a:spcPct val="104000"/>
              </a:lnSpc>
              <a:spcAft>
                <a:spcPts val="600"/>
              </a:spcAft>
            </a:pPr>
            <a:r>
              <a:rPr sz="950" b="0">
                <a:solidFill>
                  <a:srgbClr val="6B7280"/>
                </a:solidFill>
                <a:latin typeface="Arial"/>
              </a:rPr>
              <a:t>Top aisles:  </a:t>
            </a:r>
            <a:r>
              <a:rPr sz="950" b="1">
                <a:solidFill>
                  <a:srgbClr val="1F2430"/>
                </a:solidFill>
                <a:latin typeface="Arial"/>
              </a:rPr>
              <a:t>Electronics, Home</a:t>
            </a:r>
          </a:p>
          <a:p>
            <a:pPr algn="l">
              <a:lnSpc>
                <a:spcPct val="104000"/>
              </a:lnSpc>
            </a:pPr>
            <a:r>
              <a:rPr sz="950" b="1">
                <a:solidFill>
                  <a:srgbClr val="B5197A"/>
                </a:solidFill>
                <a:latin typeface="Arial"/>
              </a:rPr>
              <a:t>Reward:  </a:t>
            </a:r>
            <a:r>
              <a:rPr sz="950" b="0">
                <a:solidFill>
                  <a:srgbClr val="1F2430"/>
                </a:solidFill>
                <a:latin typeface="Arial"/>
              </a:rPr>
              <a:t>loyalty perks and early access to premium lines.</a:t>
            </a:r>
          </a:p>
        </p:txBody>
      </p:sp>
      <p:sp>
        <p:nvSpPr>
          <p:cNvPr id="14" name="Rectangle 13"/>
          <p:cNvSpPr/>
          <p:nvPr/>
        </p:nvSpPr>
        <p:spPr>
          <a:xfrm>
            <a:off x="4355592" y="1463040"/>
            <a:ext cx="3541776" cy="2240280"/>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55592" y="1463040"/>
            <a:ext cx="3541776" cy="402336"/>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01896" y="1463040"/>
            <a:ext cx="3249168" cy="402336"/>
          </a:xfrm>
          <a:prstGeom prst="rect">
            <a:avLst/>
          </a:prstGeom>
          <a:noFill/>
        </p:spPr>
        <p:txBody>
          <a:bodyPr wrap="square" lIns="0" tIns="0" rIns="0" bIns="0" anchor="ctr">
            <a:spAutoFit/>
          </a:bodyPr>
          <a:lstStyle/>
          <a:p>
            <a:pPr algn="l">
              <a:lnSpc>
                <a:spcPct val="100000"/>
              </a:lnSpc>
            </a:pPr>
            <a:r>
              <a:rPr sz="1200" b="1">
                <a:solidFill>
                  <a:srgbClr val="FFFFFF"/>
                </a:solidFill>
                <a:latin typeface="Arial"/>
              </a:rPr>
              <a:t>GROW THE BASKET</a:t>
            </a:r>
          </a:p>
        </p:txBody>
      </p:sp>
      <p:sp>
        <p:nvSpPr>
          <p:cNvPr id="17" name="TextBox 16"/>
          <p:cNvSpPr txBox="1"/>
          <p:nvPr/>
        </p:nvSpPr>
        <p:spPr>
          <a:xfrm>
            <a:off x="4501896" y="1975104"/>
            <a:ext cx="3249168" cy="1673352"/>
          </a:xfrm>
          <a:prstGeom prst="rect">
            <a:avLst/>
          </a:prstGeom>
          <a:noFill/>
        </p:spPr>
        <p:txBody>
          <a:bodyPr wrap="square" lIns="0" tIns="0" rIns="0" bIns="0" anchor="t">
            <a:spAutoFit/>
          </a:bodyPr>
          <a:lstStyle/>
          <a:p>
            <a:pPr algn="l">
              <a:lnSpc>
                <a:spcPct val="104000"/>
              </a:lnSpc>
              <a:spcAft>
                <a:spcPts val="200"/>
              </a:spcAft>
            </a:pPr>
            <a:r>
              <a:rPr sz="1300" b="1">
                <a:solidFill>
                  <a:srgbClr val="1F2430"/>
                </a:solidFill>
                <a:latin typeface="Arial"/>
              </a:rPr>
              <a:t>Bargain Hunters</a:t>
            </a:r>
          </a:p>
          <a:p>
            <a:pPr algn="l">
              <a:lnSpc>
                <a:spcPct val="104000"/>
              </a:lnSpc>
            </a:pPr>
            <a:r>
              <a:rPr sz="950" b="0">
                <a:solidFill>
                  <a:srgbClr val="6B7280"/>
                </a:solidFill>
                <a:latin typeface="Arial"/>
              </a:rPr>
              <a:t>Loyal, but tiny baskets</a:t>
            </a:r>
          </a:p>
          <a:p>
            <a:pPr algn="l">
              <a:lnSpc>
                <a:spcPct val="104000"/>
              </a:lnSpc>
              <a:spcAft>
                <a:spcPts val="500"/>
              </a:spcAft>
            </a:pPr>
            <a:r>
              <a:rPr sz="950" b="0">
                <a:solidFill>
                  <a:srgbClr val="6B7280"/>
                </a:solidFill>
                <a:latin typeface="Arial"/>
              </a:rPr>
              <a:t>380 customers, 38% of base.  </a:t>
            </a:r>
            <a:r>
              <a:rPr sz="950" b="0">
                <a:solidFill>
                  <a:srgbClr val="1F2430"/>
                </a:solidFill>
                <a:latin typeface="Arial"/>
              </a:rPr>
              <a:t>Worth </a:t>
            </a:r>
            <a:r>
              <a:rPr sz="950" b="1">
                <a:solidFill>
                  <a:srgbClr val="1F2430"/>
                </a:solidFill>
                <a:latin typeface="Arial"/>
              </a:rPr>
              <a:t>$138,690</a:t>
            </a:r>
            <a:r>
              <a:rPr sz="950" b="0">
                <a:solidFill>
                  <a:srgbClr val="1F2430"/>
                </a:solidFill>
                <a:latin typeface="Arial"/>
              </a:rPr>
              <a:t> next year (</a:t>
            </a:r>
            <a:r>
              <a:rPr sz="950" b="1">
                <a:solidFill>
                  <a:srgbClr val="1F2430"/>
                </a:solidFill>
                <a:latin typeface="Arial"/>
              </a:rPr>
              <a:t>18%</a:t>
            </a:r>
            <a:r>
              <a:rPr sz="950" b="0">
                <a:solidFill>
                  <a:srgbClr val="1F2430"/>
                </a:solidFill>
                <a:latin typeface="Arial"/>
              </a:rPr>
              <a:t> of value).</a:t>
            </a:r>
          </a:p>
          <a:p>
            <a:pPr algn="l">
              <a:lnSpc>
                <a:spcPct val="104000"/>
              </a:lnSpc>
            </a:pPr>
            <a:r>
              <a:rPr sz="950" b="0">
                <a:solidFill>
                  <a:srgbClr val="6B7280"/>
                </a:solidFill>
                <a:latin typeface="Arial"/>
              </a:rPr>
              <a:t>Orders per year:  </a:t>
            </a:r>
            <a:r>
              <a:rPr sz="950" b="1">
                <a:solidFill>
                  <a:srgbClr val="1F2430"/>
                </a:solidFill>
                <a:latin typeface="Arial"/>
              </a:rPr>
              <a:t>14.0</a:t>
            </a:r>
          </a:p>
          <a:p>
            <a:pPr algn="l">
              <a:lnSpc>
                <a:spcPct val="104000"/>
              </a:lnSpc>
            </a:pPr>
            <a:r>
              <a:rPr sz="950" b="0">
                <a:solidFill>
                  <a:srgbClr val="6B7280"/>
                </a:solidFill>
                <a:latin typeface="Arial"/>
              </a:rPr>
              <a:t>Avg order (per purchase):  </a:t>
            </a:r>
            <a:r>
              <a:rPr sz="950" b="1">
                <a:solidFill>
                  <a:srgbClr val="1F2430"/>
                </a:solidFill>
                <a:latin typeface="Arial"/>
              </a:rPr>
              <a:t>$24</a:t>
            </a:r>
          </a:p>
          <a:p>
            <a:pPr algn="l">
              <a:lnSpc>
                <a:spcPct val="104000"/>
              </a:lnSpc>
            </a:pPr>
            <a:r>
              <a:rPr sz="950" b="0">
                <a:solidFill>
                  <a:srgbClr val="6B7280"/>
                </a:solidFill>
                <a:latin typeface="Arial"/>
              </a:rPr>
              <a:t>Last purchase:  </a:t>
            </a:r>
            <a:r>
              <a:rPr sz="950" b="1">
                <a:solidFill>
                  <a:srgbClr val="1F2430"/>
                </a:solidFill>
                <a:latin typeface="Arial"/>
              </a:rPr>
              <a:t>35 days ago</a:t>
            </a:r>
          </a:p>
          <a:p>
            <a:pPr algn="l">
              <a:lnSpc>
                <a:spcPct val="104000"/>
              </a:lnSpc>
              <a:spcAft>
                <a:spcPts val="600"/>
              </a:spcAft>
            </a:pPr>
            <a:r>
              <a:rPr sz="950" b="0">
                <a:solidFill>
                  <a:srgbClr val="6B7280"/>
                </a:solidFill>
                <a:latin typeface="Arial"/>
              </a:rPr>
              <a:t>Top aisles:  </a:t>
            </a:r>
            <a:r>
              <a:rPr sz="950" b="1">
                <a:solidFill>
                  <a:srgbClr val="1F2430"/>
                </a:solidFill>
                <a:latin typeface="Arial"/>
              </a:rPr>
              <a:t>Fashion, Beauty</a:t>
            </a:r>
          </a:p>
          <a:p>
            <a:pPr algn="l">
              <a:lnSpc>
                <a:spcPct val="104000"/>
              </a:lnSpc>
            </a:pPr>
            <a:r>
              <a:rPr sz="950" b="1">
                <a:solidFill>
                  <a:srgbClr val="2E7D5B"/>
                </a:solidFill>
                <a:latin typeface="Arial"/>
              </a:rPr>
              <a:t>Grow baskets:  </a:t>
            </a:r>
            <a:r>
              <a:rPr sz="950" b="0">
                <a:solidFill>
                  <a:srgbClr val="1F2430"/>
                </a:solidFill>
                <a:latin typeface="Arial"/>
              </a:rPr>
              <a:t>bundles and free-shipping offers, not discounts.</a:t>
            </a:r>
          </a:p>
        </p:txBody>
      </p:sp>
      <p:sp>
        <p:nvSpPr>
          <p:cNvPr id="18" name="Rectangle 17"/>
          <p:cNvSpPr/>
          <p:nvPr/>
        </p:nvSpPr>
        <p:spPr>
          <a:xfrm>
            <a:off x="8208264" y="1463040"/>
            <a:ext cx="3541776" cy="2240280"/>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08264" y="1463040"/>
            <a:ext cx="3541776" cy="402336"/>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54568" y="1463040"/>
            <a:ext cx="3249168" cy="402336"/>
          </a:xfrm>
          <a:prstGeom prst="rect">
            <a:avLst/>
          </a:prstGeom>
          <a:noFill/>
        </p:spPr>
        <p:txBody>
          <a:bodyPr wrap="square" lIns="0" tIns="0" rIns="0" bIns="0" anchor="ctr">
            <a:spAutoFit/>
          </a:bodyPr>
          <a:lstStyle/>
          <a:p>
            <a:pPr algn="l">
              <a:lnSpc>
                <a:spcPct val="100000"/>
              </a:lnSpc>
            </a:pPr>
            <a:r>
              <a:rPr sz="1200" b="1">
                <a:solidFill>
                  <a:srgbClr val="FFFFFF"/>
                </a:solidFill>
                <a:latin typeface="Arial"/>
              </a:rPr>
              <a:t>RE-ENGAGE</a:t>
            </a:r>
          </a:p>
        </p:txBody>
      </p:sp>
      <p:sp>
        <p:nvSpPr>
          <p:cNvPr id="21" name="TextBox 20"/>
          <p:cNvSpPr txBox="1"/>
          <p:nvPr/>
        </p:nvSpPr>
        <p:spPr>
          <a:xfrm>
            <a:off x="8354568" y="1975104"/>
            <a:ext cx="3249168" cy="1673352"/>
          </a:xfrm>
          <a:prstGeom prst="rect">
            <a:avLst/>
          </a:prstGeom>
          <a:noFill/>
        </p:spPr>
        <p:txBody>
          <a:bodyPr wrap="square" lIns="0" tIns="0" rIns="0" bIns="0" anchor="t">
            <a:spAutoFit/>
          </a:bodyPr>
          <a:lstStyle/>
          <a:p>
            <a:pPr algn="l">
              <a:lnSpc>
                <a:spcPct val="104000"/>
              </a:lnSpc>
              <a:spcAft>
                <a:spcPts val="200"/>
              </a:spcAft>
            </a:pPr>
            <a:r>
              <a:rPr sz="1300" b="1">
                <a:solidFill>
                  <a:srgbClr val="1F2430"/>
                </a:solidFill>
                <a:latin typeface="Arial"/>
              </a:rPr>
              <a:t>Occasional Shoppers</a:t>
            </a:r>
          </a:p>
          <a:p>
            <a:pPr algn="l">
              <a:lnSpc>
                <a:spcPct val="104000"/>
              </a:lnSpc>
            </a:pPr>
            <a:r>
              <a:rPr sz="950" b="0">
                <a:solidFill>
                  <a:srgbClr val="6B7280"/>
                </a:solidFill>
                <a:latin typeface="Arial"/>
              </a:rPr>
              <a:t>Drifting away</a:t>
            </a:r>
          </a:p>
          <a:p>
            <a:pPr algn="l">
              <a:lnSpc>
                <a:spcPct val="104000"/>
              </a:lnSpc>
              <a:spcAft>
                <a:spcPts val="500"/>
              </a:spcAft>
            </a:pPr>
            <a:r>
              <a:rPr sz="950" b="0">
                <a:solidFill>
                  <a:srgbClr val="6B7280"/>
                </a:solidFill>
                <a:latin typeface="Arial"/>
              </a:rPr>
              <a:t>472 customers, 47% of base.  </a:t>
            </a:r>
            <a:r>
              <a:rPr sz="950" b="0">
                <a:solidFill>
                  <a:srgbClr val="1F2430"/>
                </a:solidFill>
                <a:latin typeface="Arial"/>
              </a:rPr>
              <a:t>Worth </a:t>
            </a:r>
            <a:r>
              <a:rPr sz="950" b="1">
                <a:solidFill>
                  <a:srgbClr val="1F2430"/>
                </a:solidFill>
                <a:latin typeface="Arial"/>
              </a:rPr>
              <a:t>$77,677</a:t>
            </a:r>
            <a:r>
              <a:rPr sz="950" b="0">
                <a:solidFill>
                  <a:srgbClr val="1F2430"/>
                </a:solidFill>
                <a:latin typeface="Arial"/>
              </a:rPr>
              <a:t> next year (</a:t>
            </a:r>
            <a:r>
              <a:rPr sz="950" b="1">
                <a:solidFill>
                  <a:srgbClr val="1F2430"/>
                </a:solidFill>
                <a:latin typeface="Arial"/>
              </a:rPr>
              <a:t>10%</a:t>
            </a:r>
            <a:r>
              <a:rPr sz="950" b="0">
                <a:solidFill>
                  <a:srgbClr val="1F2430"/>
                </a:solidFill>
                <a:latin typeface="Arial"/>
              </a:rPr>
              <a:t> of value).</a:t>
            </a:r>
          </a:p>
          <a:p>
            <a:pPr algn="l">
              <a:lnSpc>
                <a:spcPct val="104000"/>
              </a:lnSpc>
            </a:pPr>
            <a:r>
              <a:rPr sz="950" b="0">
                <a:solidFill>
                  <a:srgbClr val="6B7280"/>
                </a:solidFill>
                <a:latin typeface="Arial"/>
              </a:rPr>
              <a:t>Orders per year:  </a:t>
            </a:r>
            <a:r>
              <a:rPr sz="950" b="1">
                <a:solidFill>
                  <a:srgbClr val="1F2430"/>
                </a:solidFill>
                <a:latin typeface="Arial"/>
              </a:rPr>
              <a:t>3.3</a:t>
            </a:r>
          </a:p>
          <a:p>
            <a:pPr algn="l">
              <a:lnSpc>
                <a:spcPct val="104000"/>
              </a:lnSpc>
            </a:pPr>
            <a:r>
              <a:rPr sz="950" b="0">
                <a:solidFill>
                  <a:srgbClr val="6B7280"/>
                </a:solidFill>
                <a:latin typeface="Arial"/>
              </a:rPr>
              <a:t>Avg order (per purchase):  </a:t>
            </a:r>
            <a:r>
              <a:rPr sz="950" b="1">
                <a:solidFill>
                  <a:srgbClr val="1F2430"/>
                </a:solidFill>
                <a:latin typeface="Arial"/>
              </a:rPr>
              <a:t>$55</a:t>
            </a:r>
          </a:p>
          <a:p>
            <a:pPr algn="l">
              <a:lnSpc>
                <a:spcPct val="104000"/>
              </a:lnSpc>
            </a:pPr>
            <a:r>
              <a:rPr sz="950" b="0">
                <a:solidFill>
                  <a:srgbClr val="6B7280"/>
                </a:solidFill>
                <a:latin typeface="Arial"/>
              </a:rPr>
              <a:t>Last purchase:  </a:t>
            </a:r>
            <a:r>
              <a:rPr sz="950" b="1">
                <a:solidFill>
                  <a:srgbClr val="1F2430"/>
                </a:solidFill>
                <a:latin typeface="Arial"/>
              </a:rPr>
              <a:t>153 days ago</a:t>
            </a:r>
          </a:p>
          <a:p>
            <a:pPr algn="l">
              <a:lnSpc>
                <a:spcPct val="104000"/>
              </a:lnSpc>
              <a:spcAft>
                <a:spcPts val="600"/>
              </a:spcAft>
            </a:pPr>
            <a:r>
              <a:rPr sz="950" b="0">
                <a:solidFill>
                  <a:srgbClr val="6B7280"/>
                </a:solidFill>
                <a:latin typeface="Arial"/>
              </a:rPr>
              <a:t>Top aisles:  </a:t>
            </a:r>
            <a:r>
              <a:rPr sz="950" b="1">
                <a:solidFill>
                  <a:srgbClr val="1F2430"/>
                </a:solidFill>
                <a:latin typeface="Arial"/>
              </a:rPr>
              <a:t>Fashion, Sports</a:t>
            </a:r>
          </a:p>
          <a:p>
            <a:pPr algn="l">
              <a:lnSpc>
                <a:spcPct val="104000"/>
              </a:lnSpc>
            </a:pPr>
            <a:r>
              <a:rPr sz="950" b="1">
                <a:solidFill>
                  <a:srgbClr val="6B7280"/>
                </a:solidFill>
                <a:latin typeface="Arial"/>
              </a:rPr>
              <a:t>Re-engage:  </a:t>
            </a:r>
            <a:r>
              <a:rPr sz="950" b="0">
                <a:solidFill>
                  <a:srgbClr val="1F2430"/>
                </a:solidFill>
                <a:latin typeface="Arial"/>
              </a:rPr>
              <a:t>win-back reminders before they lapse (stop for good).</a:t>
            </a:r>
          </a:p>
        </p:txBody>
      </p:sp>
      <p:pic>
        <p:nvPicPr>
          <p:cNvPr id="22" name="Picture 21" descr="seg_behaviour_map.png"/>
          <p:cNvPicPr>
            <a:picLocks noChangeAspect="1"/>
          </p:cNvPicPr>
          <p:nvPr/>
        </p:nvPicPr>
        <p:blipFill>
          <a:blip r:embed="rId2"/>
          <a:stretch>
            <a:fillRect/>
          </a:stretch>
        </p:blipFill>
        <p:spPr>
          <a:xfrm>
            <a:off x="625757" y="4050791"/>
            <a:ext cx="6463976" cy="1481328"/>
          </a:xfrm>
          <a:prstGeom prst="rect">
            <a:avLst/>
          </a:prstGeom>
        </p:spPr>
      </p:pic>
      <p:pic>
        <p:nvPicPr>
          <p:cNvPr id="23" name="Picture 22" descr="category_return_tile.png"/>
          <p:cNvPicPr>
            <a:picLocks noChangeAspect="1"/>
          </p:cNvPicPr>
          <p:nvPr/>
        </p:nvPicPr>
        <p:blipFill>
          <a:blip r:embed="rId3"/>
          <a:stretch>
            <a:fillRect/>
          </a:stretch>
        </p:blipFill>
        <p:spPr>
          <a:xfrm>
            <a:off x="7409774" y="4050791"/>
            <a:ext cx="4217427" cy="1481328"/>
          </a:xfrm>
          <a:prstGeom prst="rect">
            <a:avLst/>
          </a:prstGeom>
        </p:spPr>
      </p:pic>
      <p:sp>
        <p:nvSpPr>
          <p:cNvPr id="24" name="Rectangle 23"/>
          <p:cNvSpPr/>
          <p:nvPr/>
        </p:nvSpPr>
        <p:spPr>
          <a:xfrm>
            <a:off x="502920" y="5925312"/>
            <a:ext cx="11247120" cy="65836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5925312"/>
            <a:ext cx="82296" cy="65836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952744"/>
            <a:ext cx="10835640" cy="603503"/>
          </a:xfrm>
          <a:prstGeom prst="rect">
            <a:avLst/>
          </a:prstGeom>
          <a:noFill/>
        </p:spPr>
        <p:txBody>
          <a:bodyPr wrap="square" lIns="0" tIns="0" rIns="0" bIns="0" anchor="ctr">
            <a:spAutoFit/>
          </a:bodyPr>
          <a:lstStyle/>
          <a:p>
            <a:pPr algn="l">
              <a:lnSpc>
                <a:spcPct val="102000"/>
              </a:lnSpc>
            </a:pPr>
            <a:r>
              <a:rPr sz="1100" b="1">
                <a:solidFill>
                  <a:srgbClr val="B5197A"/>
                </a:solidFill>
                <a:latin typeface="Arial"/>
              </a:rPr>
              <a:t>The bottom line:  </a:t>
            </a:r>
            <a:r>
              <a:rPr sz="1100" b="0">
                <a:solidFill>
                  <a:srgbClr val="1F2430"/>
                </a:solidFill>
                <a:latin typeface="Arial"/>
              </a:rPr>
              <a:t>the three groups look identical on age, gender and where they came from; what sets them apart is how they shop. So target by how they shop, not who they are: reward the VIPs, grow the Bargain Hunters' small baskets, and win back the Occasional Shoppers before they drift away.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74320"/>
            <a:ext cx="5486400" cy="219456"/>
          </a:xfrm>
          <a:prstGeom prst="rect">
            <a:avLst/>
          </a:prstGeom>
          <a:noFill/>
        </p:spPr>
        <p:txBody>
          <a:bodyPr wrap="square" lIns="0" tIns="0" rIns="0" bIns="0" anchor="t">
            <a:spAutoFit/>
          </a:bodyPr>
          <a:lstStyle/>
          <a:p>
            <a:pPr algn="l">
              <a:lnSpc>
                <a:spcPct val="100000"/>
              </a:lnSpc>
            </a:pPr>
            <a:r>
              <a:rPr sz="1100" b="1">
                <a:solidFill>
                  <a:srgbClr val="B5197A"/>
                </a:solidFill>
                <a:latin typeface="Arial"/>
              </a:rPr>
              <a:t>CLV INSIGHTS</a:t>
            </a:r>
          </a:p>
        </p:txBody>
      </p:sp>
      <p:sp>
        <p:nvSpPr>
          <p:cNvPr id="5" name="TextBox 4"/>
          <p:cNvSpPr txBox="1"/>
          <p:nvPr/>
        </p:nvSpPr>
        <p:spPr>
          <a:xfrm>
            <a:off x="502920" y="475488"/>
            <a:ext cx="9509760" cy="457200"/>
          </a:xfrm>
          <a:prstGeom prst="rect">
            <a:avLst/>
          </a:prstGeom>
          <a:noFill/>
        </p:spPr>
        <p:txBody>
          <a:bodyPr wrap="square" lIns="0" tIns="0" rIns="0" bIns="0" anchor="t">
            <a:spAutoFit/>
          </a:bodyPr>
          <a:lstStyle/>
          <a:p>
            <a:pPr algn="l">
              <a:lnSpc>
                <a:spcPct val="100000"/>
              </a:lnSpc>
            </a:pPr>
            <a:r>
              <a:rPr sz="2000" b="1">
                <a:solidFill>
                  <a:srgbClr val="1F2430"/>
                </a:solidFill>
                <a:latin typeface="Arial"/>
              </a:rPr>
              <a:t>Behaviour Predicts Spend, Almost to the Dollar</a:t>
            </a:r>
          </a:p>
        </p:txBody>
      </p:sp>
      <p:sp>
        <p:nvSpPr>
          <p:cNvPr id="6" name="TextBox 5"/>
          <p:cNvSpPr txBox="1"/>
          <p:nvPr/>
        </p:nvSpPr>
        <p:spPr>
          <a:xfrm>
            <a:off x="502920" y="969264"/>
            <a:ext cx="10424160" cy="365760"/>
          </a:xfrm>
          <a:prstGeom prst="rect">
            <a:avLst/>
          </a:prstGeom>
          <a:noFill/>
        </p:spPr>
        <p:txBody>
          <a:bodyPr wrap="square" lIns="0" tIns="0" rIns="0" bIns="0" anchor="t">
            <a:spAutoFit/>
          </a:bodyPr>
          <a:lstStyle/>
          <a:p>
            <a:pPr algn="l">
              <a:lnSpc>
                <a:spcPct val="100000"/>
              </a:lnSpc>
            </a:pPr>
            <a:r>
              <a:rPr sz="1150" b="0">
                <a:solidFill>
                  <a:srgbClr val="6B7280"/>
                </a:solidFill>
                <a:latin typeface="Arial"/>
              </a:rPr>
              <a:t>Behaviour does not just group customers, it predicts them: a customer's own history forecasts next year's spend to within about $15, so we can aim budget with confidence.</a:t>
            </a:r>
          </a:p>
        </p:txBody>
      </p:sp>
      <p:sp>
        <p:nvSpPr>
          <p:cNvPr id="7" name="Rectangle 6"/>
          <p:cNvSpPr/>
          <p:nvPr/>
        </p:nvSpPr>
        <p:spPr>
          <a:xfrm>
            <a:off x="502920" y="1353312"/>
            <a:ext cx="11247120" cy="1828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517904"/>
            <a:ext cx="13716" cy="257860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463040"/>
            <a:ext cx="5303520" cy="292608"/>
          </a:xfrm>
          <a:prstGeom prst="rect">
            <a:avLst/>
          </a:prstGeom>
          <a:noFill/>
        </p:spPr>
        <p:txBody>
          <a:bodyPr wrap="square" lIns="0" tIns="0" rIns="0" bIns="0" anchor="t">
            <a:spAutoFit/>
          </a:bodyPr>
          <a:lstStyle/>
          <a:p>
            <a:pPr algn="l">
              <a:lnSpc>
                <a:spcPct val="100000"/>
              </a:lnSpc>
            </a:pPr>
            <a:r>
              <a:rPr sz="1350" b="1">
                <a:solidFill>
                  <a:srgbClr val="2E7D5B"/>
                </a:solidFill>
                <a:latin typeface="Arial"/>
              </a:rPr>
              <a:t>What predicts value</a:t>
            </a:r>
          </a:p>
        </p:txBody>
      </p:sp>
      <p:sp>
        <p:nvSpPr>
          <p:cNvPr id="12" name="TextBox 11"/>
          <p:cNvSpPr txBox="1"/>
          <p:nvPr/>
        </p:nvSpPr>
        <p:spPr>
          <a:xfrm>
            <a:off x="502920" y="1773936"/>
            <a:ext cx="5257800" cy="457200"/>
          </a:xfrm>
          <a:prstGeom prst="rect">
            <a:avLst/>
          </a:prstGeom>
          <a:noFill/>
        </p:spPr>
        <p:txBody>
          <a:bodyPr wrap="square" lIns="0" tIns="0" rIns="0" bIns="0" anchor="t">
            <a:spAutoFit/>
          </a:bodyPr>
          <a:lstStyle/>
          <a:p>
            <a:pPr algn="l">
              <a:lnSpc>
                <a:spcPct val="106000"/>
              </a:lnSpc>
            </a:pPr>
            <a:r>
              <a:rPr sz="969" b="0">
                <a:solidFill>
                  <a:srgbClr val="1F2430"/>
                </a:solidFill>
                <a:latin typeface="Arial"/>
              </a:rPr>
              <a:t>Behaviour, not demographics. What a customer has spent, their order size, and how often they buy tell us almost everything; who they are barely moves the needle.</a:t>
            </a:r>
          </a:p>
        </p:txBody>
      </p:sp>
      <p:pic>
        <p:nvPicPr>
          <p:cNvPr id="13" name="Picture 12" descr="clv_drivers_tile.png"/>
          <p:cNvPicPr>
            <a:picLocks noChangeAspect="1"/>
          </p:cNvPicPr>
          <p:nvPr/>
        </p:nvPicPr>
        <p:blipFill>
          <a:blip r:embed="rId2"/>
          <a:stretch>
            <a:fillRect/>
          </a:stretch>
        </p:blipFill>
        <p:spPr>
          <a:xfrm>
            <a:off x="1505742" y="2212848"/>
            <a:ext cx="3297874" cy="1856231"/>
          </a:xfrm>
          <a:prstGeom prst="rect">
            <a:avLst/>
          </a:prstGeom>
        </p:spPr>
      </p:pic>
      <p:sp>
        <p:nvSpPr>
          <p:cNvPr id="14" name="TextBox 13"/>
          <p:cNvSpPr txBox="1"/>
          <p:nvPr/>
        </p:nvSpPr>
        <p:spPr>
          <a:xfrm>
            <a:off x="6355080" y="1463040"/>
            <a:ext cx="5303520" cy="292608"/>
          </a:xfrm>
          <a:prstGeom prst="rect">
            <a:avLst/>
          </a:prstGeom>
          <a:noFill/>
        </p:spPr>
        <p:txBody>
          <a:bodyPr wrap="square" lIns="0" tIns="0" rIns="0" bIns="0" anchor="t">
            <a:spAutoFit/>
          </a:bodyPr>
          <a:lstStyle/>
          <a:p>
            <a:pPr algn="l">
              <a:lnSpc>
                <a:spcPct val="100000"/>
              </a:lnSpc>
            </a:pPr>
            <a:r>
              <a:rPr sz="1350" b="1">
                <a:solidFill>
                  <a:srgbClr val="3F6D8E"/>
                </a:solidFill>
                <a:latin typeface="Arial"/>
              </a:rPr>
              <a:t>A forecast you can trust</a:t>
            </a:r>
          </a:p>
        </p:txBody>
      </p:sp>
      <p:sp>
        <p:nvSpPr>
          <p:cNvPr id="15" name="TextBox 14"/>
          <p:cNvSpPr txBox="1"/>
          <p:nvPr/>
        </p:nvSpPr>
        <p:spPr>
          <a:xfrm>
            <a:off x="6355080" y="1883664"/>
            <a:ext cx="5257800" cy="2194560"/>
          </a:xfrm>
          <a:prstGeom prst="rect">
            <a:avLst/>
          </a:prstGeom>
          <a:noFill/>
        </p:spPr>
        <p:txBody>
          <a:bodyPr wrap="square" lIns="0" tIns="0" rIns="0" bIns="0" anchor="t">
            <a:spAutoFit/>
          </a:bodyPr>
          <a:lstStyle/>
          <a:p>
            <a:pPr algn="l">
              <a:lnSpc>
                <a:spcPct val="106000"/>
              </a:lnSpc>
              <a:spcAft>
                <a:spcPts val="100"/>
              </a:spcAft>
            </a:pPr>
            <a:r>
              <a:rPr sz="1050" b="1">
                <a:solidFill>
                  <a:srgbClr val="1F2430"/>
                </a:solidFill>
                <a:latin typeface="Arial"/>
              </a:rPr>
              <a:t>Off by only about $15.</a:t>
            </a:r>
          </a:p>
          <a:p>
            <a:pPr algn="l">
              <a:lnSpc>
                <a:spcPct val="106000"/>
              </a:lnSpc>
              <a:spcAft>
                <a:spcPts val="800"/>
              </a:spcAft>
            </a:pPr>
            <a:r>
              <a:rPr sz="969" b="0">
                <a:solidFill>
                  <a:srgbClr val="1F2430"/>
                </a:solidFill>
                <a:latin typeface="Arial"/>
              </a:rPr>
              <a:t>For a typical customer, the forecast of next year's spend misses by only about </a:t>
            </a:r>
            <a:r>
              <a:rPr sz="969" b="1">
                <a:solidFill>
                  <a:srgbClr val="1F2430"/>
                </a:solidFill>
                <a:latin typeface="Arial"/>
              </a:rPr>
              <a:t>$15</a:t>
            </a:r>
            <a:r>
              <a:rPr sz="969" b="0">
                <a:solidFill>
                  <a:srgbClr val="1F2430"/>
                </a:solidFill>
                <a:latin typeface="Arial"/>
              </a:rPr>
              <a:t>. Predict </a:t>
            </a:r>
            <a:r>
              <a:rPr sz="969" b="1">
                <a:solidFill>
                  <a:srgbClr val="1F2430"/>
                </a:solidFill>
                <a:latin typeface="Arial"/>
              </a:rPr>
              <a:t>$200</a:t>
            </a:r>
            <a:r>
              <a:rPr sz="969" b="0">
                <a:solidFill>
                  <a:srgbClr val="1F2430"/>
                </a:solidFill>
                <a:latin typeface="Arial"/>
              </a:rPr>
              <a:t> and they usually spend about </a:t>
            </a:r>
            <a:r>
              <a:rPr sz="969" b="1">
                <a:solidFill>
                  <a:srgbClr val="1F2430"/>
                </a:solidFill>
                <a:latin typeface="Arial"/>
              </a:rPr>
              <a:t>$185 to $215</a:t>
            </a:r>
            <a:r>
              <a:rPr sz="969" b="0">
                <a:solidFill>
                  <a:srgbClr val="1F2430"/>
                </a:solidFill>
                <a:latin typeface="Arial"/>
              </a:rPr>
              <a:t>.</a:t>
            </a:r>
          </a:p>
          <a:p>
            <a:pPr algn="l">
              <a:lnSpc>
                <a:spcPct val="106000"/>
              </a:lnSpc>
              <a:spcAft>
                <a:spcPts val="100"/>
              </a:spcAft>
            </a:pPr>
            <a:r>
              <a:rPr sz="1050" b="1">
                <a:solidFill>
                  <a:srgbClr val="1F2430"/>
                </a:solidFill>
                <a:latin typeface="Arial"/>
              </a:rPr>
              <a:t>Proven on customers we had never seen.</a:t>
            </a:r>
          </a:p>
          <a:p>
            <a:pPr algn="l">
              <a:lnSpc>
                <a:spcPct val="106000"/>
              </a:lnSpc>
              <a:spcAft>
                <a:spcPts val="800"/>
              </a:spcAft>
            </a:pPr>
            <a:r>
              <a:rPr sz="969" b="0">
                <a:solidFill>
                  <a:srgbClr val="1F2430"/>
                </a:solidFill>
                <a:latin typeface="Arial"/>
              </a:rPr>
              <a:t>We held </a:t>
            </a:r>
            <a:r>
              <a:rPr sz="969" b="1">
                <a:solidFill>
                  <a:srgbClr val="1F2430"/>
                </a:solidFill>
                <a:latin typeface="Arial"/>
              </a:rPr>
              <a:t>250</a:t>
            </a:r>
            <a:r>
              <a:rPr sz="969" b="0">
                <a:solidFill>
                  <a:srgbClr val="1F2430"/>
                </a:solidFill>
                <a:latin typeface="Arial"/>
              </a:rPr>
              <a:t> customers out of the build and tested on them, so the accuracy holds for new people too, not just today's shoppers.</a:t>
            </a:r>
          </a:p>
          <a:p>
            <a:pPr algn="l">
              <a:lnSpc>
                <a:spcPct val="106000"/>
              </a:lnSpc>
              <a:spcAft>
                <a:spcPts val="100"/>
              </a:spcAft>
            </a:pPr>
            <a:r>
              <a:rPr sz="1050" b="1">
                <a:solidFill>
                  <a:srgbClr val="1F2430"/>
                </a:solidFill>
                <a:latin typeface="Arial"/>
              </a:rPr>
              <a:t>A complex engine, made simple.</a:t>
            </a:r>
          </a:p>
          <a:p>
            <a:pPr algn="l">
              <a:lnSpc>
                <a:spcPct val="106000"/>
              </a:lnSpc>
            </a:pPr>
            <a:r>
              <a:rPr sz="969" b="0">
                <a:solidFill>
                  <a:srgbClr val="1F2430"/>
                </a:solidFill>
                <a:latin typeface="Arial"/>
              </a:rPr>
              <a:t>The forecaster (</a:t>
            </a:r>
            <a:r>
              <a:rPr sz="969" b="1">
                <a:solidFill>
                  <a:srgbClr val="1F2430"/>
                </a:solidFill>
                <a:latin typeface="Arial"/>
              </a:rPr>
              <a:t>Gradient Boosting</a:t>
            </a:r>
            <a:r>
              <a:rPr sz="969" b="0">
                <a:solidFill>
                  <a:srgbClr val="1F2430"/>
                </a:solidFill>
                <a:latin typeface="Arial"/>
              </a:rPr>
              <a:t>) learns hundreds of small patterns from past purchases, each fixing the last, into one reliable number per customer.</a:t>
            </a:r>
          </a:p>
        </p:txBody>
      </p:sp>
      <p:pic>
        <p:nvPicPr>
          <p:cNvPr id="16" name="Picture 15" descr="clv_accuracy_strip.png"/>
          <p:cNvPicPr>
            <a:picLocks noChangeAspect="1"/>
          </p:cNvPicPr>
          <p:nvPr/>
        </p:nvPicPr>
        <p:blipFill>
          <a:blip r:embed="rId3"/>
          <a:stretch>
            <a:fillRect/>
          </a:stretch>
        </p:blipFill>
        <p:spPr>
          <a:xfrm>
            <a:off x="1170135" y="4160520"/>
            <a:ext cx="9912689" cy="1572768"/>
          </a:xfrm>
          <a:prstGeom prst="rect">
            <a:avLst/>
          </a:prstGeom>
        </p:spPr>
      </p:pic>
      <p:sp>
        <p:nvSpPr>
          <p:cNvPr id="17" name="Rectangle 16"/>
          <p:cNvSpPr/>
          <p:nvPr/>
        </p:nvSpPr>
        <p:spPr>
          <a:xfrm>
            <a:off x="502920" y="5870448"/>
            <a:ext cx="11247120" cy="65836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5870448"/>
            <a:ext cx="82296" cy="65836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5897880"/>
            <a:ext cx="10835640" cy="603503"/>
          </a:xfrm>
          <a:prstGeom prst="rect">
            <a:avLst/>
          </a:prstGeom>
          <a:noFill/>
        </p:spPr>
        <p:txBody>
          <a:bodyPr wrap="square" lIns="0" tIns="0" rIns="0" bIns="0" anchor="ctr">
            <a:spAutoFit/>
          </a:bodyPr>
          <a:lstStyle/>
          <a:p>
            <a:pPr algn="l">
              <a:lnSpc>
                <a:spcPct val="102000"/>
              </a:lnSpc>
            </a:pPr>
            <a:r>
              <a:rPr sz="1100" b="1">
                <a:solidFill>
                  <a:srgbClr val="B5197A"/>
                </a:solidFill>
                <a:latin typeface="Arial"/>
              </a:rPr>
              <a:t>The bottom line:  </a:t>
            </a:r>
            <a:r>
              <a:rPr sz="1100" b="0">
                <a:solidFill>
                  <a:srgbClr val="1F2430"/>
                </a:solidFill>
                <a:latin typeface="Arial"/>
              </a:rPr>
              <a:t>judge a customer by what they do, not who they are. Because their own buying history predicts next year's spend to within about $15, we can rank every customer today and put budget behind the ones worth the most, instead of guessing.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74320"/>
            <a:ext cx="5486400" cy="219456"/>
          </a:xfrm>
          <a:prstGeom prst="rect">
            <a:avLst/>
          </a:prstGeom>
          <a:noFill/>
        </p:spPr>
        <p:txBody>
          <a:bodyPr wrap="square" lIns="0" tIns="0" rIns="0" bIns="0" anchor="t">
            <a:spAutoFit/>
          </a:bodyPr>
          <a:lstStyle/>
          <a:p>
            <a:pPr algn="l">
              <a:lnSpc>
                <a:spcPct val="100000"/>
              </a:lnSpc>
            </a:pPr>
            <a:r>
              <a:rPr sz="1100" b="1">
                <a:solidFill>
                  <a:srgbClr val="B5197A"/>
                </a:solidFill>
                <a:latin typeface="Arial"/>
              </a:rPr>
              <a:t>OPTIMIZED MARKETING STRATEGY</a:t>
            </a:r>
          </a:p>
        </p:txBody>
      </p:sp>
      <p:sp>
        <p:nvSpPr>
          <p:cNvPr id="5" name="TextBox 4"/>
          <p:cNvSpPr txBox="1"/>
          <p:nvPr/>
        </p:nvSpPr>
        <p:spPr>
          <a:xfrm>
            <a:off x="502920" y="475488"/>
            <a:ext cx="9509760" cy="457200"/>
          </a:xfrm>
          <a:prstGeom prst="rect">
            <a:avLst/>
          </a:prstGeom>
          <a:noFill/>
        </p:spPr>
        <p:txBody>
          <a:bodyPr wrap="square" lIns="0" tIns="0" rIns="0" bIns="0" anchor="t">
            <a:spAutoFit/>
          </a:bodyPr>
          <a:lstStyle/>
          <a:p>
            <a:pPr algn="l">
              <a:lnSpc>
                <a:spcPct val="100000"/>
              </a:lnSpc>
            </a:pPr>
            <a:r>
              <a:rPr sz="1900" b="1">
                <a:solidFill>
                  <a:srgbClr val="1F2430"/>
                </a:solidFill>
                <a:latin typeface="Arial"/>
              </a:rPr>
              <a:t>The Coupon Strategy: Set the Budget, Then Aim It</a:t>
            </a:r>
          </a:p>
        </p:txBody>
      </p:sp>
      <p:sp>
        <p:nvSpPr>
          <p:cNvPr id="6" name="TextBox 5"/>
          <p:cNvSpPr txBox="1"/>
          <p:nvPr/>
        </p:nvSpPr>
        <p:spPr>
          <a:xfrm>
            <a:off x="502920" y="969264"/>
            <a:ext cx="10424160" cy="365760"/>
          </a:xfrm>
          <a:prstGeom prst="rect">
            <a:avLst/>
          </a:prstGeom>
          <a:noFill/>
        </p:spPr>
        <p:txBody>
          <a:bodyPr wrap="square" lIns="0" tIns="0" rIns="0" bIns="0" anchor="t">
            <a:spAutoFit/>
          </a:bodyPr>
          <a:lstStyle/>
          <a:p>
            <a:pPr algn="l">
              <a:lnSpc>
                <a:spcPct val="100000"/>
              </a:lnSpc>
            </a:pPr>
            <a:r>
              <a:rPr sz="1150" b="0">
                <a:solidFill>
                  <a:srgbClr val="6B7280"/>
                </a:solidFill>
                <a:latin typeface="Arial"/>
              </a:rPr>
              <a:t>The assigned $10,000 coupon budget, aimed by two decisions: the size of each group's coupon, and the one aisle where a discount can move a sale. The fast win before the bigger prizes.</a:t>
            </a:r>
          </a:p>
        </p:txBody>
      </p:sp>
      <p:sp>
        <p:nvSpPr>
          <p:cNvPr id="7" name="Rectangle 6"/>
          <p:cNvSpPr/>
          <p:nvPr/>
        </p:nvSpPr>
        <p:spPr>
          <a:xfrm>
            <a:off x="502920" y="1353312"/>
            <a:ext cx="11247120" cy="1828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463040"/>
            <a:ext cx="5276088" cy="274320"/>
          </a:xfrm>
          <a:prstGeom prst="rect">
            <a:avLst/>
          </a:prstGeom>
          <a:noFill/>
        </p:spPr>
        <p:txBody>
          <a:bodyPr wrap="square" lIns="0" tIns="0" rIns="0" bIns="0" anchor="t">
            <a:spAutoFit/>
          </a:bodyPr>
          <a:lstStyle/>
          <a:p>
            <a:pPr algn="l">
              <a:lnSpc>
                <a:spcPct val="100000"/>
              </a:lnSpc>
            </a:pPr>
            <a:r>
              <a:rPr sz="1250" b="1">
                <a:solidFill>
                  <a:srgbClr val="2E7D5B"/>
                </a:solidFill>
                <a:latin typeface="Arial"/>
              </a:rPr>
              <a:t>1.  What each coupon returns</a:t>
            </a:r>
          </a:p>
        </p:txBody>
      </p:sp>
      <p:pic>
        <p:nvPicPr>
          <p:cNvPr id="11" name="Picture 10" descr="coupon_roi_tile.png"/>
          <p:cNvPicPr>
            <a:picLocks noChangeAspect="1"/>
          </p:cNvPicPr>
          <p:nvPr/>
        </p:nvPicPr>
        <p:blipFill>
          <a:blip r:embed="rId2"/>
          <a:stretch>
            <a:fillRect/>
          </a:stretch>
        </p:blipFill>
        <p:spPr>
          <a:xfrm>
            <a:off x="502920" y="1810512"/>
            <a:ext cx="5276088" cy="2244888"/>
          </a:xfrm>
          <a:prstGeom prst="rect">
            <a:avLst/>
          </a:prstGeom>
        </p:spPr>
      </p:pic>
      <p:sp>
        <p:nvSpPr>
          <p:cNvPr id="12" name="TextBox 11"/>
          <p:cNvSpPr txBox="1"/>
          <p:nvPr/>
        </p:nvSpPr>
        <p:spPr>
          <a:xfrm>
            <a:off x="502920" y="4183416"/>
            <a:ext cx="5276088" cy="1632167"/>
          </a:xfrm>
          <a:prstGeom prst="rect">
            <a:avLst/>
          </a:prstGeom>
          <a:noFill/>
        </p:spPr>
        <p:txBody>
          <a:bodyPr wrap="square" lIns="0" tIns="0" rIns="0" bIns="0" anchor="t">
            <a:spAutoFit/>
          </a:bodyPr>
          <a:lstStyle/>
          <a:p>
            <a:pPr algn="l">
              <a:lnSpc>
                <a:spcPct val="108000"/>
              </a:lnSpc>
              <a:spcAft>
                <a:spcPts val="400"/>
              </a:spcAft>
            </a:pPr>
            <a:r>
              <a:rPr sz="960" b="0">
                <a:solidFill>
                  <a:srgbClr val="1F2430"/>
                </a:solidFill>
                <a:latin typeface="Arial"/>
              </a:rPr>
              <a:t>We tested every possible coupon combination and kept the best plan within the </a:t>
            </a:r>
            <a:r>
              <a:rPr sz="960" b="1">
                <a:solidFill>
                  <a:srgbClr val="1F2430"/>
                </a:solidFill>
                <a:latin typeface="Arial"/>
              </a:rPr>
              <a:t>$10,000</a:t>
            </a:r>
            <a:r>
              <a:rPr sz="960" b="0">
                <a:solidFill>
                  <a:srgbClr val="1F2430"/>
                </a:solidFill>
                <a:latin typeface="Arial"/>
              </a:rPr>
              <a:t> budget.</a:t>
            </a:r>
          </a:p>
          <a:p>
            <a:pPr algn="l">
              <a:lnSpc>
                <a:spcPct val="108000"/>
              </a:lnSpc>
              <a:spcAft>
                <a:spcPts val="400"/>
              </a:spcAft>
            </a:pPr>
            <a:r>
              <a:rPr sz="960" b="0">
                <a:solidFill>
                  <a:srgbClr val="1F2430"/>
                </a:solidFill>
                <a:latin typeface="Arial"/>
              </a:rPr>
              <a:t>Spend </a:t>
            </a:r>
            <a:r>
              <a:rPr sz="960" b="1">
                <a:solidFill>
                  <a:srgbClr val="1F2430"/>
                </a:solidFill>
                <a:latin typeface="Arial"/>
              </a:rPr>
              <a:t>$9,750</a:t>
            </a:r>
            <a:r>
              <a:rPr sz="960" b="0">
                <a:solidFill>
                  <a:srgbClr val="1F2430"/>
                </a:solidFill>
                <a:latin typeface="Arial"/>
              </a:rPr>
              <a:t>, get </a:t>
            </a:r>
            <a:r>
              <a:rPr sz="960" b="1">
                <a:solidFill>
                  <a:srgbClr val="1F2430"/>
                </a:solidFill>
                <a:latin typeface="Arial"/>
              </a:rPr>
              <a:t>+$14,450</a:t>
            </a:r>
            <a:r>
              <a:rPr sz="960" b="0">
                <a:solidFill>
                  <a:srgbClr val="1F2430"/>
                </a:solidFill>
                <a:latin typeface="Arial"/>
              </a:rPr>
              <a:t> back, about </a:t>
            </a:r>
            <a:r>
              <a:rPr sz="960" b="1">
                <a:solidFill>
                  <a:srgbClr val="1F2430"/>
                </a:solidFill>
                <a:latin typeface="Arial"/>
              </a:rPr>
              <a:t>$1.48 for every $1</a:t>
            </a:r>
            <a:r>
              <a:rPr sz="960" b="0">
                <a:solidFill>
                  <a:srgbClr val="1F2430"/>
                </a:solidFill>
                <a:latin typeface="Arial"/>
              </a:rPr>
              <a:t>.</a:t>
            </a:r>
          </a:p>
          <a:p>
            <a:pPr algn="l">
              <a:lnSpc>
                <a:spcPct val="108000"/>
              </a:lnSpc>
              <a:spcAft>
                <a:spcPts val="400"/>
              </a:spcAft>
            </a:pPr>
            <a:r>
              <a:rPr sz="960" b="1">
                <a:solidFill>
                  <a:srgbClr val="1F2430"/>
                </a:solidFill>
                <a:latin typeface="Arial"/>
              </a:rPr>
              <a:t>$250</a:t>
            </a:r>
            <a:r>
              <a:rPr sz="960" b="0">
                <a:solidFill>
                  <a:srgbClr val="1F2430"/>
                </a:solidFill>
                <a:latin typeface="Arial"/>
              </a:rPr>
              <a:t> stays unspent: giving every group its favourite coupon would cost </a:t>
            </a:r>
            <a:r>
              <a:rPr sz="960" b="1">
                <a:solidFill>
                  <a:srgbClr val="1F2430"/>
                </a:solidFill>
                <a:latin typeface="Arial"/>
              </a:rPr>
              <a:t>$11,500</a:t>
            </a:r>
            <a:r>
              <a:rPr sz="960" b="0">
                <a:solidFill>
                  <a:srgbClr val="1F2430"/>
                </a:solidFill>
                <a:latin typeface="Arial"/>
              </a:rPr>
              <a:t> for just </a:t>
            </a:r>
            <a:r>
              <a:rPr sz="960" b="1">
                <a:solidFill>
                  <a:srgbClr val="1F2430"/>
                </a:solidFill>
                <a:latin typeface="Arial"/>
              </a:rPr>
              <a:t>$350</a:t>
            </a:r>
            <a:r>
              <a:rPr sz="960" b="0">
                <a:solidFill>
                  <a:srgbClr val="1F2430"/>
                </a:solidFill>
                <a:latin typeface="Arial"/>
              </a:rPr>
              <a:t> more, so we stop.</a:t>
            </a:r>
          </a:p>
        </p:txBody>
      </p:sp>
      <p:sp>
        <p:nvSpPr>
          <p:cNvPr id="13" name="TextBox 12"/>
          <p:cNvSpPr txBox="1"/>
          <p:nvPr/>
        </p:nvSpPr>
        <p:spPr>
          <a:xfrm>
            <a:off x="6382512" y="1463040"/>
            <a:ext cx="5276088" cy="274320"/>
          </a:xfrm>
          <a:prstGeom prst="rect">
            <a:avLst/>
          </a:prstGeom>
          <a:noFill/>
        </p:spPr>
        <p:txBody>
          <a:bodyPr wrap="square" lIns="0" tIns="0" rIns="0" bIns="0" anchor="t">
            <a:spAutoFit/>
          </a:bodyPr>
          <a:lstStyle/>
          <a:p>
            <a:pPr algn="l">
              <a:lnSpc>
                <a:spcPct val="100000"/>
              </a:lnSpc>
            </a:pPr>
            <a:r>
              <a:rPr sz="1250" b="1">
                <a:solidFill>
                  <a:srgbClr val="2E7D5B"/>
                </a:solidFill>
                <a:latin typeface="Arial"/>
              </a:rPr>
              <a:t>2.  Where each coupon should go</a:t>
            </a:r>
          </a:p>
        </p:txBody>
      </p:sp>
      <p:pic>
        <p:nvPicPr>
          <p:cNvPr id="14" name="Picture 13" descr="coupon_where_tile.png"/>
          <p:cNvPicPr>
            <a:picLocks noChangeAspect="1"/>
          </p:cNvPicPr>
          <p:nvPr/>
        </p:nvPicPr>
        <p:blipFill>
          <a:blip r:embed="rId3"/>
          <a:stretch>
            <a:fillRect/>
          </a:stretch>
        </p:blipFill>
        <p:spPr>
          <a:xfrm>
            <a:off x="6600586" y="1810512"/>
            <a:ext cx="4839938" cy="2788920"/>
          </a:xfrm>
          <a:prstGeom prst="rect">
            <a:avLst/>
          </a:prstGeom>
        </p:spPr>
      </p:pic>
      <p:sp>
        <p:nvSpPr>
          <p:cNvPr id="15" name="TextBox 14"/>
          <p:cNvSpPr txBox="1"/>
          <p:nvPr/>
        </p:nvSpPr>
        <p:spPr>
          <a:xfrm>
            <a:off x="6382512" y="4727447"/>
            <a:ext cx="5276088" cy="1088136"/>
          </a:xfrm>
          <a:prstGeom prst="rect">
            <a:avLst/>
          </a:prstGeom>
          <a:noFill/>
        </p:spPr>
        <p:txBody>
          <a:bodyPr wrap="square" lIns="0" tIns="0" rIns="0" bIns="0" anchor="t">
            <a:spAutoFit/>
          </a:bodyPr>
          <a:lstStyle/>
          <a:p>
            <a:pPr algn="l">
              <a:lnSpc>
                <a:spcPct val="108000"/>
              </a:lnSpc>
              <a:spcAft>
                <a:spcPts val="400"/>
              </a:spcAft>
            </a:pPr>
            <a:r>
              <a:rPr sz="960" b="0">
                <a:solidFill>
                  <a:srgbClr val="1F2430"/>
                </a:solidFill>
                <a:latin typeface="Arial"/>
              </a:rPr>
              <a:t>Coupon only where a discount changes a sale, not where people buy anyway.</a:t>
            </a:r>
          </a:p>
          <a:p>
            <a:pPr algn="l">
              <a:lnSpc>
                <a:spcPct val="108000"/>
              </a:lnSpc>
              <a:spcAft>
                <a:spcPts val="400"/>
              </a:spcAft>
            </a:pPr>
            <a:r>
              <a:rPr sz="960" b="1">
                <a:solidFill>
                  <a:srgbClr val="1F2430"/>
                </a:solidFill>
                <a:latin typeface="Arial"/>
              </a:rPr>
              <a:t>Occasional Shoppers</a:t>
            </a:r>
            <a:r>
              <a:rPr sz="960" b="0">
                <a:solidFill>
                  <a:srgbClr val="1F2430"/>
                </a:solidFill>
                <a:latin typeface="Arial"/>
              </a:rPr>
              <a:t> are the clean coupon: one-off buyers of </a:t>
            </a:r>
            <a:r>
              <a:rPr sz="960" b="1">
                <a:solidFill>
                  <a:srgbClr val="1F2430"/>
                </a:solidFill>
                <a:latin typeface="Arial"/>
              </a:rPr>
              <a:t>Fashion and Beauty</a:t>
            </a:r>
            <a:r>
              <a:rPr sz="960" b="0">
                <a:solidFill>
                  <a:srgbClr val="1F2430"/>
                </a:solidFill>
                <a:latin typeface="Arial"/>
              </a:rPr>
              <a:t> a discount can win. </a:t>
            </a:r>
            <a:r>
              <a:rPr sz="960" b="1">
                <a:solidFill>
                  <a:srgbClr val="1F2430"/>
                </a:solidFill>
                <a:latin typeface="Arial"/>
              </a:rPr>
              <a:t>Bargain Hunters</a:t>
            </a:r>
            <a:r>
              <a:rPr sz="960" b="0">
                <a:solidFill>
                  <a:srgbClr val="1F2430"/>
                </a:solidFill>
                <a:latin typeface="Arial"/>
              </a:rPr>
              <a:t> buy those aisles habitually (5x a year, 96% repeat), so use </a:t>
            </a:r>
            <a:r>
              <a:rPr sz="960" b="1">
                <a:solidFill>
                  <a:srgbClr val="1F2430"/>
                </a:solidFill>
                <a:latin typeface="Arial"/>
              </a:rPr>
              <a:t>bundles or test first</a:t>
            </a:r>
            <a:r>
              <a:rPr sz="960" b="0">
                <a:solidFill>
                  <a:srgbClr val="1F2430"/>
                </a:solidFill>
                <a:latin typeface="Arial"/>
              </a:rPr>
              <a:t>, not a flat discount. VIPs get a </a:t>
            </a:r>
            <a:r>
              <a:rPr sz="960" b="1">
                <a:solidFill>
                  <a:srgbClr val="1F2430"/>
                </a:solidFill>
                <a:latin typeface="Arial"/>
              </a:rPr>
              <a:t>loyalty perk</a:t>
            </a:r>
            <a:r>
              <a:rPr sz="960" b="0">
                <a:solidFill>
                  <a:srgbClr val="1F2430"/>
                </a:solidFill>
                <a:latin typeface="Arial"/>
              </a:rPr>
              <a:t>.</a:t>
            </a:r>
          </a:p>
        </p:txBody>
      </p:sp>
      <p:sp>
        <p:nvSpPr>
          <p:cNvPr id="16" name="Rectangle 15"/>
          <p:cNvSpPr/>
          <p:nvPr/>
        </p:nvSpPr>
        <p:spPr>
          <a:xfrm>
            <a:off x="502920" y="5925312"/>
            <a:ext cx="11247120" cy="65836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5925312"/>
            <a:ext cx="82296" cy="65836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5952744"/>
            <a:ext cx="10835640" cy="603503"/>
          </a:xfrm>
          <a:prstGeom prst="rect">
            <a:avLst/>
          </a:prstGeom>
          <a:noFill/>
        </p:spPr>
        <p:txBody>
          <a:bodyPr wrap="square" lIns="0" tIns="0" rIns="0" bIns="0" anchor="ctr">
            <a:spAutoFit/>
          </a:bodyPr>
          <a:lstStyle/>
          <a:p>
            <a:pPr algn="l">
              <a:lnSpc>
                <a:spcPct val="102000"/>
              </a:lnSpc>
            </a:pPr>
            <a:r>
              <a:rPr sz="1100" b="1">
                <a:solidFill>
                  <a:srgbClr val="B5197A"/>
                </a:solidFill>
                <a:latin typeface="Arial"/>
              </a:rPr>
              <a:t>The bottom line:  </a:t>
            </a:r>
            <a:r>
              <a:rPr sz="1100" b="0">
                <a:solidFill>
                  <a:srgbClr val="1F2430"/>
                </a:solidFill>
                <a:latin typeface="Arial"/>
              </a:rPr>
              <a:t>aim every coupon dollar at a sale a discount can actually win, and stay out of Electronics and Home, where 82 to 87% of buyers are VIPs who buy regardless. The VIP coupon is the weak link: reward VIPs with perks, not a discount they do not need. And test each coupon against a hold-back group (customers who get nothing) before spending the full budget.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74320"/>
            <a:ext cx="5486400" cy="219456"/>
          </a:xfrm>
          <a:prstGeom prst="rect">
            <a:avLst/>
          </a:prstGeom>
          <a:noFill/>
        </p:spPr>
        <p:txBody>
          <a:bodyPr wrap="square" lIns="0" tIns="0" rIns="0" bIns="0" anchor="t">
            <a:spAutoFit/>
          </a:bodyPr>
          <a:lstStyle/>
          <a:p>
            <a:pPr algn="l">
              <a:lnSpc>
                <a:spcPct val="100000"/>
              </a:lnSpc>
            </a:pPr>
            <a:r>
              <a:rPr sz="1100" b="1">
                <a:solidFill>
                  <a:srgbClr val="B5197A"/>
                </a:solidFill>
                <a:latin typeface="Arial"/>
              </a:rPr>
              <a:t>DATA-DRIVEN ROADMAP</a:t>
            </a:r>
          </a:p>
        </p:txBody>
      </p:sp>
      <p:sp>
        <p:nvSpPr>
          <p:cNvPr id="5" name="TextBox 4"/>
          <p:cNvSpPr txBox="1"/>
          <p:nvPr/>
        </p:nvSpPr>
        <p:spPr>
          <a:xfrm>
            <a:off x="502920" y="475488"/>
            <a:ext cx="9509760" cy="457200"/>
          </a:xfrm>
          <a:prstGeom prst="rect">
            <a:avLst/>
          </a:prstGeom>
          <a:noFill/>
        </p:spPr>
        <p:txBody>
          <a:bodyPr wrap="square" lIns="0" tIns="0" rIns="0" bIns="0" anchor="t">
            <a:spAutoFit/>
          </a:bodyPr>
          <a:lstStyle/>
          <a:p>
            <a:pPr algn="l">
              <a:lnSpc>
                <a:spcPct val="100000"/>
              </a:lnSpc>
            </a:pPr>
            <a:r>
              <a:rPr sz="2000" b="1">
                <a:solidFill>
                  <a:srgbClr val="1F2430"/>
                </a:solidFill>
                <a:latin typeface="Arial"/>
              </a:rPr>
              <a:t>Prove the Small Bet, Then Scale the Biggest Prize</a:t>
            </a:r>
          </a:p>
        </p:txBody>
      </p:sp>
      <p:sp>
        <p:nvSpPr>
          <p:cNvPr id="6" name="TextBox 5"/>
          <p:cNvSpPr txBox="1"/>
          <p:nvPr/>
        </p:nvSpPr>
        <p:spPr>
          <a:xfrm>
            <a:off x="502920" y="969264"/>
            <a:ext cx="10424160" cy="365760"/>
          </a:xfrm>
          <a:prstGeom prst="rect">
            <a:avLst/>
          </a:prstGeom>
          <a:noFill/>
        </p:spPr>
        <p:txBody>
          <a:bodyPr wrap="square" lIns="0" tIns="0" rIns="0" bIns="0" anchor="t">
            <a:spAutoFit/>
          </a:bodyPr>
          <a:lstStyle/>
          <a:p>
            <a:pPr algn="l">
              <a:lnSpc>
                <a:spcPct val="100000"/>
              </a:lnSpc>
            </a:pPr>
            <a:r>
              <a:rPr sz="1150" b="0">
                <a:solidFill>
                  <a:srgbClr val="6B7280"/>
                </a:solidFill>
                <a:latin typeface="Arial"/>
              </a:rPr>
              <a:t>Six moves, smallest first, each proven by an A/B test: give the change to some customers, hold a comparison group back, and keep only what beats that group.</a:t>
            </a:r>
          </a:p>
        </p:txBody>
      </p:sp>
      <p:sp>
        <p:nvSpPr>
          <p:cNvPr id="7" name="Rectangle 6"/>
          <p:cNvSpPr/>
          <p:nvPr/>
        </p:nvSpPr>
        <p:spPr>
          <a:xfrm>
            <a:off x="502920" y="1353312"/>
            <a:ext cx="11247120" cy="18288"/>
          </a:xfrm>
          <a:prstGeom prst="rect">
            <a:avLst/>
          </a:prstGeom>
          <a:solidFill>
            <a:srgbClr val="D9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517904"/>
            <a:ext cx="3246120" cy="2889504"/>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517904"/>
            <a:ext cx="3246120" cy="47548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1554480"/>
            <a:ext cx="2990087" cy="420624"/>
          </a:xfrm>
          <a:prstGeom prst="rect">
            <a:avLst/>
          </a:prstGeom>
          <a:noFill/>
        </p:spPr>
        <p:txBody>
          <a:bodyPr wrap="square" lIns="0" tIns="0" rIns="0" bIns="0" anchor="ctr">
            <a:spAutoFit/>
          </a:bodyPr>
          <a:lstStyle/>
          <a:p>
            <a:pPr algn="l">
              <a:lnSpc>
                <a:spcPct val="100000"/>
              </a:lnSpc>
            </a:pPr>
            <a:r>
              <a:rPr sz="1250" b="1">
                <a:solidFill>
                  <a:srgbClr val="FFFFFF"/>
                </a:solidFill>
                <a:latin typeface="Arial"/>
              </a:rPr>
              <a:t>NOW</a:t>
            </a:r>
          </a:p>
          <a:p>
            <a:pPr algn="l">
              <a:lnSpc>
                <a:spcPct val="100000"/>
              </a:lnSpc>
            </a:pPr>
            <a:r>
              <a:rPr sz="950" b="0">
                <a:solidFill>
                  <a:srgbClr val="FFFFFF"/>
                </a:solidFill>
                <a:latin typeface="Arial"/>
              </a:rPr>
              <a:t>validate the coupon</a:t>
            </a:r>
          </a:p>
        </p:txBody>
      </p:sp>
      <p:sp>
        <p:nvSpPr>
          <p:cNvPr id="13" name="TextBox 12"/>
          <p:cNvSpPr txBox="1"/>
          <p:nvPr/>
        </p:nvSpPr>
        <p:spPr>
          <a:xfrm>
            <a:off x="649224" y="2103120"/>
            <a:ext cx="2971800" cy="2249424"/>
          </a:xfrm>
          <a:prstGeom prst="rect">
            <a:avLst/>
          </a:prstGeom>
          <a:noFill/>
        </p:spPr>
        <p:txBody>
          <a:bodyPr wrap="square" lIns="0" tIns="0" rIns="0" bIns="0" anchor="t">
            <a:spAutoFit/>
          </a:bodyPr>
          <a:lstStyle/>
          <a:p>
            <a:pPr algn="l">
              <a:lnSpc>
                <a:spcPct val="105000"/>
              </a:lnSpc>
              <a:spcAft>
                <a:spcPts val="200"/>
              </a:spcAft>
            </a:pPr>
            <a:r>
              <a:rPr sz="1000" b="1">
                <a:solidFill>
                  <a:srgbClr val="B5197A"/>
                </a:solidFill>
                <a:latin typeface="Arial"/>
              </a:rPr>
              <a:t>1  </a:t>
            </a:r>
            <a:r>
              <a:rPr sz="1000" b="1">
                <a:solidFill>
                  <a:srgbClr val="1F2430"/>
                </a:solidFill>
                <a:latin typeface="Arial"/>
              </a:rPr>
              <a:t>A/B test the coupon plan first: VIPs $20, Bargain $5, Occasional $10.</a:t>
            </a:r>
          </a:p>
          <a:p>
            <a:pPr algn="l">
              <a:lnSpc>
                <a:spcPct val="105000"/>
              </a:lnSpc>
              <a:spcAft>
                <a:spcPts val="700"/>
              </a:spcAft>
            </a:pPr>
            <a:r>
              <a:rPr sz="880" b="0">
                <a:solidFill>
                  <a:srgbClr val="6B7280"/>
                </a:solidFill>
                <a:latin typeface="Arial"/>
              </a:rPr>
              <a:t>Give it to some shoppers, hold a comparison group back, then compare. The modelled </a:t>
            </a:r>
            <a:r>
              <a:rPr sz="880" b="1">
                <a:solidFill>
                  <a:srgbClr val="2E7D5B"/>
                </a:solidFill>
                <a:latin typeface="Arial"/>
              </a:rPr>
              <a:t>+$14,450</a:t>
            </a:r>
            <a:r>
              <a:rPr sz="880" b="0">
                <a:solidFill>
                  <a:srgbClr val="6B7280"/>
                </a:solidFill>
                <a:latin typeface="Arial"/>
              </a:rPr>
              <a:t> is a best case: it is extra sales, not profit. Keep only the coupons that beat the no-coupon group by enough to cover the goods.</a:t>
            </a:r>
          </a:p>
          <a:p>
            <a:pPr algn="l">
              <a:lnSpc>
                <a:spcPct val="105000"/>
              </a:lnSpc>
              <a:spcAft>
                <a:spcPts val="200"/>
              </a:spcAft>
            </a:pPr>
            <a:r>
              <a:rPr sz="1000" b="1">
                <a:solidFill>
                  <a:srgbClr val="B5197A"/>
                </a:solidFill>
                <a:latin typeface="Arial"/>
              </a:rPr>
              <a:t>2  </a:t>
            </a:r>
            <a:r>
              <a:rPr sz="1000" b="1">
                <a:solidFill>
                  <a:srgbClr val="1F2430"/>
                </a:solidFill>
                <a:latin typeface="Arial"/>
              </a:rPr>
              <a:t>Test higher VIP coupons, $30 to $50.</a:t>
            </a:r>
          </a:p>
          <a:p>
            <a:pPr algn="l">
              <a:lnSpc>
                <a:spcPct val="105000"/>
              </a:lnSpc>
              <a:spcAft>
                <a:spcPts val="700"/>
              </a:spcAft>
            </a:pPr>
            <a:r>
              <a:rPr sz="880" b="0">
                <a:solidFill>
                  <a:srgbClr val="6B7280"/>
                </a:solidFill>
                <a:latin typeface="Arial"/>
              </a:rPr>
              <a:t>A VIP is worth about </a:t>
            </a:r>
            <a:r>
              <a:rPr sz="880" b="1">
                <a:solidFill>
                  <a:srgbClr val="2E7D5B"/>
                </a:solidFill>
                <a:latin typeface="Arial"/>
              </a:rPr>
              <a:t>$3,826</a:t>
            </a:r>
            <a:r>
              <a:rPr sz="880" b="0">
                <a:solidFill>
                  <a:srgbClr val="6B7280"/>
                </a:solidFill>
                <a:latin typeface="Arial"/>
              </a:rPr>
              <a:t> (23x an Occasional) and did not level off at $20, so test $20 vs $30 vs $50.</a:t>
            </a:r>
          </a:p>
        </p:txBody>
      </p:sp>
      <p:sp>
        <p:nvSpPr>
          <p:cNvPr id="14" name="Rectangle 13"/>
          <p:cNvSpPr/>
          <p:nvPr/>
        </p:nvSpPr>
        <p:spPr>
          <a:xfrm>
            <a:off x="3913632" y="1517904"/>
            <a:ext cx="3703320" cy="2889504"/>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913632" y="1517904"/>
            <a:ext cx="3703320" cy="47548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41648" y="1554480"/>
            <a:ext cx="3447287" cy="420624"/>
          </a:xfrm>
          <a:prstGeom prst="rect">
            <a:avLst/>
          </a:prstGeom>
          <a:noFill/>
        </p:spPr>
        <p:txBody>
          <a:bodyPr wrap="square" lIns="0" tIns="0" rIns="0" bIns="0" anchor="ctr">
            <a:spAutoFit/>
          </a:bodyPr>
          <a:lstStyle/>
          <a:p>
            <a:pPr algn="l">
              <a:lnSpc>
                <a:spcPct val="100000"/>
              </a:lnSpc>
            </a:pPr>
            <a:r>
              <a:rPr sz="1250" b="1">
                <a:solidFill>
                  <a:srgbClr val="FFFFFF"/>
                </a:solidFill>
                <a:latin typeface="Arial"/>
              </a:rPr>
              <a:t>NEXT</a:t>
            </a:r>
          </a:p>
          <a:p>
            <a:pPr algn="l">
              <a:lnSpc>
                <a:spcPct val="100000"/>
              </a:lnSpc>
            </a:pPr>
            <a:r>
              <a:rPr sz="950" b="0">
                <a:solidFill>
                  <a:srgbClr val="FFFFFF"/>
                </a:solidFill>
                <a:latin typeface="Arial"/>
              </a:rPr>
              <a:t>grow the base we have</a:t>
            </a:r>
          </a:p>
        </p:txBody>
      </p:sp>
      <p:sp>
        <p:nvSpPr>
          <p:cNvPr id="17" name="TextBox 16"/>
          <p:cNvSpPr txBox="1"/>
          <p:nvPr/>
        </p:nvSpPr>
        <p:spPr>
          <a:xfrm>
            <a:off x="4059936" y="2103120"/>
            <a:ext cx="3429000" cy="2249424"/>
          </a:xfrm>
          <a:prstGeom prst="rect">
            <a:avLst/>
          </a:prstGeom>
          <a:noFill/>
        </p:spPr>
        <p:txBody>
          <a:bodyPr wrap="square" lIns="0" tIns="0" rIns="0" bIns="0" anchor="t">
            <a:spAutoFit/>
          </a:bodyPr>
          <a:lstStyle/>
          <a:p>
            <a:pPr algn="l">
              <a:lnSpc>
                <a:spcPct val="105000"/>
              </a:lnSpc>
              <a:spcAft>
                <a:spcPts val="200"/>
              </a:spcAft>
            </a:pPr>
            <a:r>
              <a:rPr sz="1000" b="1">
                <a:solidFill>
                  <a:srgbClr val="2E7D5B"/>
                </a:solidFill>
                <a:latin typeface="Arial"/>
              </a:rPr>
              <a:t>1  </a:t>
            </a:r>
            <a:r>
              <a:rPr sz="1000" b="1">
                <a:solidFill>
                  <a:srgbClr val="1F2430"/>
                </a:solidFill>
                <a:latin typeface="Arial"/>
              </a:rPr>
              <a:t>Grow Bargain baskets with bundles and free shipping, not discounts.</a:t>
            </a:r>
          </a:p>
          <a:p>
            <a:pPr algn="l">
              <a:lnSpc>
                <a:spcPct val="105000"/>
              </a:lnSpc>
              <a:spcAft>
                <a:spcPts val="700"/>
              </a:spcAft>
            </a:pPr>
            <a:r>
              <a:rPr sz="880" b="0">
                <a:solidFill>
                  <a:srgbClr val="6B7280"/>
                </a:solidFill>
                <a:latin typeface="Arial"/>
              </a:rPr>
              <a:t>Lifts their small (about $24) basket without cutting price, so we keep the profit. Worth about </a:t>
            </a:r>
            <a:r>
              <a:rPr sz="880" b="1">
                <a:solidFill>
                  <a:srgbClr val="2E7D5B"/>
                </a:solidFill>
                <a:latin typeface="Arial"/>
              </a:rPr>
              <a:t>+$117k/yr</a:t>
            </a:r>
            <a:r>
              <a:rPr sz="880" b="0">
                <a:solidFill>
                  <a:srgbClr val="6B7280"/>
                </a:solidFill>
                <a:latin typeface="Arial"/>
              </a:rPr>
              <a:t>.</a:t>
            </a:r>
          </a:p>
          <a:p>
            <a:pPr algn="l">
              <a:lnSpc>
                <a:spcPct val="105000"/>
              </a:lnSpc>
              <a:spcAft>
                <a:spcPts val="200"/>
              </a:spcAft>
            </a:pPr>
            <a:r>
              <a:rPr sz="1000" b="1">
                <a:solidFill>
                  <a:srgbClr val="2E7D5B"/>
                </a:solidFill>
                <a:latin typeface="Arial"/>
              </a:rPr>
              <a:t>2  </a:t>
            </a:r>
            <a:r>
              <a:rPr sz="1000" b="1">
                <a:solidFill>
                  <a:srgbClr val="1F2430"/>
                </a:solidFill>
                <a:latin typeface="Arial"/>
              </a:rPr>
              <a:t>Re-engage Occasional Shoppers on their own cadence (buying rhythm).</a:t>
            </a:r>
          </a:p>
          <a:p>
            <a:pPr algn="l">
              <a:lnSpc>
                <a:spcPct val="105000"/>
              </a:lnSpc>
              <a:spcAft>
                <a:spcPts val="700"/>
              </a:spcAft>
            </a:pPr>
            <a:r>
              <a:rPr sz="880" b="0">
                <a:solidFill>
                  <a:srgbClr val="6B7280"/>
                </a:solidFill>
                <a:latin typeface="Arial"/>
              </a:rPr>
              <a:t>Nudge each one once it goes quiet for about twice its usual gap (about 96 days). Worth about </a:t>
            </a:r>
            <a:r>
              <a:rPr sz="880" b="1">
                <a:solidFill>
                  <a:srgbClr val="2E7D5B"/>
                </a:solidFill>
                <a:latin typeface="Arial"/>
              </a:rPr>
              <a:t>+$78k/yr</a:t>
            </a:r>
            <a:r>
              <a:rPr sz="880" b="0">
                <a:solidFill>
                  <a:srgbClr val="6B7280"/>
                </a:solidFill>
                <a:latin typeface="Arial"/>
              </a:rPr>
              <a:t>.</a:t>
            </a:r>
          </a:p>
          <a:p>
            <a:pPr algn="l">
              <a:lnSpc>
                <a:spcPct val="105000"/>
              </a:lnSpc>
              <a:spcAft>
                <a:spcPts val="200"/>
              </a:spcAft>
            </a:pPr>
            <a:r>
              <a:rPr sz="1000" b="1">
                <a:solidFill>
                  <a:srgbClr val="2E7D5B"/>
                </a:solidFill>
                <a:latin typeface="Arial"/>
              </a:rPr>
              <a:t>3  </a:t>
            </a:r>
            <a:r>
              <a:rPr sz="1000" b="1">
                <a:solidFill>
                  <a:srgbClr val="1F2430"/>
                </a:solidFill>
                <a:latin typeface="Arial"/>
              </a:rPr>
              <a:t>Win back about 100 lapsed shoppers with Home and Sports offers.</a:t>
            </a:r>
          </a:p>
          <a:p>
            <a:pPr algn="l">
              <a:lnSpc>
                <a:spcPct val="105000"/>
              </a:lnSpc>
              <a:spcAft>
                <a:spcPts val="700"/>
              </a:spcAft>
            </a:pPr>
            <a:r>
              <a:rPr sz="880" b="0">
                <a:solidFill>
                  <a:srgbClr val="6B7280"/>
                </a:solidFill>
                <a:latin typeface="Arial"/>
              </a:rPr>
              <a:t>They over-index there (buy far more than average). About 1.6% of value and no VIPs, so keep it cheap.</a:t>
            </a:r>
          </a:p>
        </p:txBody>
      </p:sp>
      <p:sp>
        <p:nvSpPr>
          <p:cNvPr id="18" name="Rectangle 17"/>
          <p:cNvSpPr/>
          <p:nvPr/>
        </p:nvSpPr>
        <p:spPr>
          <a:xfrm>
            <a:off x="7772400" y="1517904"/>
            <a:ext cx="3977639" cy="2889504"/>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772400" y="1517904"/>
            <a:ext cx="3977639" cy="475488"/>
          </a:xfrm>
          <a:prstGeom prst="rect">
            <a:avLst/>
          </a:prstGeom>
          <a:solidFill>
            <a:srgbClr val="3F6D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00416" y="1554480"/>
            <a:ext cx="3721607" cy="420624"/>
          </a:xfrm>
          <a:prstGeom prst="rect">
            <a:avLst/>
          </a:prstGeom>
          <a:noFill/>
        </p:spPr>
        <p:txBody>
          <a:bodyPr wrap="square" lIns="0" tIns="0" rIns="0" bIns="0" anchor="ctr">
            <a:spAutoFit/>
          </a:bodyPr>
          <a:lstStyle/>
          <a:p>
            <a:pPr algn="l">
              <a:lnSpc>
                <a:spcPct val="100000"/>
              </a:lnSpc>
            </a:pPr>
            <a:r>
              <a:rPr sz="1250" b="1">
                <a:solidFill>
                  <a:srgbClr val="FFFFFF"/>
                </a:solidFill>
                <a:latin typeface="Arial"/>
              </a:rPr>
              <a:t>BIGGEST PRIZE</a:t>
            </a:r>
          </a:p>
          <a:p>
            <a:pPr algn="l">
              <a:lnSpc>
                <a:spcPct val="100000"/>
              </a:lnSpc>
            </a:pPr>
            <a:r>
              <a:rPr sz="950" b="0">
                <a:solidFill>
                  <a:srgbClr val="FFFFFF"/>
                </a:solidFill>
                <a:latin typeface="Arial"/>
              </a:rPr>
              <a:t>restart acquisition</a:t>
            </a:r>
          </a:p>
        </p:txBody>
      </p:sp>
      <p:sp>
        <p:nvSpPr>
          <p:cNvPr id="21" name="TextBox 20"/>
          <p:cNvSpPr txBox="1"/>
          <p:nvPr/>
        </p:nvSpPr>
        <p:spPr>
          <a:xfrm>
            <a:off x="7918704" y="2103120"/>
            <a:ext cx="3703320" cy="2249424"/>
          </a:xfrm>
          <a:prstGeom prst="rect">
            <a:avLst/>
          </a:prstGeom>
          <a:noFill/>
        </p:spPr>
        <p:txBody>
          <a:bodyPr wrap="square" lIns="0" tIns="0" rIns="0" bIns="0" anchor="t">
            <a:spAutoFit/>
          </a:bodyPr>
          <a:lstStyle/>
          <a:p>
            <a:pPr algn="l">
              <a:lnSpc>
                <a:spcPct val="105000"/>
              </a:lnSpc>
              <a:spcAft>
                <a:spcPts val="200"/>
              </a:spcAft>
            </a:pPr>
            <a:r>
              <a:rPr sz="1000" b="1">
                <a:solidFill>
                  <a:srgbClr val="3F6D8E"/>
                </a:solidFill>
                <a:latin typeface="Arial"/>
              </a:rPr>
              <a:t>1  </a:t>
            </a:r>
            <a:r>
              <a:rPr sz="1000" b="1">
                <a:solidFill>
                  <a:srgbClr val="1F2430"/>
                </a:solidFill>
                <a:latin typeface="Arial"/>
              </a:rPr>
              <a:t>Restart acquisition into Google and Facebook, targeting VIP-shaped behaviour.</a:t>
            </a:r>
          </a:p>
          <a:p>
            <a:pPr algn="l">
              <a:lnSpc>
                <a:spcPct val="105000"/>
              </a:lnSpc>
              <a:spcAft>
                <a:spcPts val="700"/>
              </a:spcAft>
            </a:pPr>
            <a:r>
              <a:rPr sz="880" b="0">
                <a:solidFill>
                  <a:srgbClr val="6B7280"/>
                </a:solidFill>
                <a:latin typeface="Arial"/>
              </a:rPr>
              <a:t>No one has signed up since 2024 and revenue has been flat about 18 months. Chase look-alikes of our VIPs (people who buy often and spend big). Today's mix already nets </a:t>
            </a:r>
            <a:r>
              <a:rPr sz="880" b="1">
                <a:solidFill>
                  <a:srgbClr val="2E7D5B"/>
                </a:solidFill>
                <a:latin typeface="Arial"/>
              </a:rPr>
              <a:t>+$758k</a:t>
            </a:r>
            <a:r>
              <a:rPr sz="880" b="0">
                <a:solidFill>
                  <a:srgbClr val="6B7280"/>
                </a:solidFill>
                <a:latin typeface="Arial"/>
              </a:rPr>
              <a:t> over 12 months (Google returns 26x), so this </a:t>
            </a:r>
            <a:r>
              <a:rPr sz="880" b="1">
                <a:solidFill>
                  <a:srgbClr val="1F2430"/>
                </a:solidFill>
                <a:latin typeface="Arial"/>
              </a:rPr>
              <a:t>dwarfs the coupon, about 50x</a:t>
            </a:r>
            <a:r>
              <a:rPr sz="880" b="0">
                <a:solidFill>
                  <a:srgbClr val="6B7280"/>
                </a:solidFill>
                <a:latin typeface="Arial"/>
              </a:rPr>
              <a:t> its size. Start with a small, capped budget on each channel, aimed at look-alike audiences, then scale as long as the return beats our target.</a:t>
            </a:r>
          </a:p>
        </p:txBody>
      </p:sp>
      <p:pic>
        <p:nvPicPr>
          <p:cNvPr id="22" name="Picture 21" descr="roadmap_scale_tile.png"/>
          <p:cNvPicPr>
            <a:picLocks noChangeAspect="1"/>
          </p:cNvPicPr>
          <p:nvPr/>
        </p:nvPicPr>
        <p:blipFill>
          <a:blip r:embed="rId2"/>
          <a:stretch>
            <a:fillRect/>
          </a:stretch>
        </p:blipFill>
        <p:spPr>
          <a:xfrm>
            <a:off x="771753" y="4480560"/>
            <a:ext cx="10709452" cy="1316736"/>
          </a:xfrm>
          <a:prstGeom prst="rect">
            <a:avLst/>
          </a:prstGeom>
        </p:spPr>
      </p:pic>
      <p:sp>
        <p:nvSpPr>
          <p:cNvPr id="23" name="Rectangle 22"/>
          <p:cNvSpPr/>
          <p:nvPr/>
        </p:nvSpPr>
        <p:spPr>
          <a:xfrm>
            <a:off x="502920" y="5888736"/>
            <a:ext cx="11247120" cy="658368"/>
          </a:xfrm>
          <a:prstGeom prst="rect">
            <a:avLst/>
          </a:prstGeom>
          <a:solidFill>
            <a:srgbClr val="F3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5888736"/>
            <a:ext cx="82296" cy="658368"/>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5916168"/>
            <a:ext cx="10835640" cy="603503"/>
          </a:xfrm>
          <a:prstGeom prst="rect">
            <a:avLst/>
          </a:prstGeom>
          <a:noFill/>
        </p:spPr>
        <p:txBody>
          <a:bodyPr wrap="square" lIns="0" tIns="0" rIns="0" bIns="0" anchor="ctr">
            <a:spAutoFit/>
          </a:bodyPr>
          <a:lstStyle/>
          <a:p>
            <a:pPr algn="l">
              <a:lnSpc>
                <a:spcPct val="102000"/>
              </a:lnSpc>
            </a:pPr>
            <a:r>
              <a:rPr sz="1100" b="1">
                <a:solidFill>
                  <a:srgbClr val="B5197A"/>
                </a:solidFill>
                <a:latin typeface="Arial"/>
              </a:rPr>
              <a:t>The bottom line:  </a:t>
            </a:r>
            <a:r>
              <a:rPr sz="1100" b="0">
                <a:solidFill>
                  <a:srgbClr val="1F2430"/>
                </a:solidFill>
                <a:latin typeface="Arial"/>
              </a:rPr>
              <a:t>run every step as a live A/B test with a hold-back group (a comparison group that gets nothing), and target customers by how they shop, not who they are. Even the coupon's +$14,450 is sales, not profit, and roughly breaks even once you subtract what the goods cost, so the real prize is growing the customers we already have (about +$195k a year) and, above all, restarting acquisition (+$758k, about 50x the coupon).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0896"/>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240280"/>
            <a:ext cx="10972800" cy="1097280"/>
          </a:xfrm>
          <a:prstGeom prst="rect">
            <a:avLst/>
          </a:prstGeom>
          <a:noFill/>
        </p:spPr>
        <p:txBody>
          <a:bodyPr wrap="square" lIns="0" tIns="0" rIns="0" bIns="0" anchor="t">
            <a:spAutoFit/>
          </a:bodyPr>
          <a:lstStyle/>
          <a:p>
            <a:pPr algn="l">
              <a:lnSpc>
                <a:spcPct val="100000"/>
              </a:lnSpc>
            </a:pPr>
            <a:r>
              <a:rPr sz="4800" b="1">
                <a:solidFill>
                  <a:srgbClr val="1F2430"/>
                </a:solidFill>
                <a:latin typeface="Arial"/>
              </a:rPr>
              <a:t>Thank you</a:t>
            </a:r>
          </a:p>
        </p:txBody>
      </p:sp>
      <p:sp>
        <p:nvSpPr>
          <p:cNvPr id="11" name="Rectangle 10"/>
          <p:cNvSpPr/>
          <p:nvPr/>
        </p:nvSpPr>
        <p:spPr>
          <a:xfrm>
            <a:off x="502920" y="3611880"/>
            <a:ext cx="2834640" cy="45720"/>
          </a:xfrm>
          <a:prstGeom prst="rect">
            <a:avLst/>
          </a:prstGeom>
          <a:solidFill>
            <a:srgbClr val="B5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1711</Words>
  <Application>Microsoft Macintosh PowerPoint</Application>
  <PresentationFormat>Widescreen</PresentationFormat>
  <Paragraphs>107</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Midhun Shyam</cp:lastModifiedBy>
  <cp:revision>2</cp:revision>
  <dcterms:created xsi:type="dcterms:W3CDTF">2013-01-27T09:14:16Z</dcterms:created>
  <dcterms:modified xsi:type="dcterms:W3CDTF">2026-07-28T09:56:10Z</dcterms:modified>
  <cp:category/>
</cp:coreProperties>
</file>